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ыступление: 5 минут" id="{15d1519f-b3da-3f8e-6241-9f821814cba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Приложение: для вопросов" id="{acb0064b-4c0b-d67f-f919-5917d2f0de34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Мы — команда FinRadar. По банковской выписке строим прогноз остатка на 30 дней и заранее предупреждаем о кассовом разрыве: когда, на сколько не хватит, с какой вероятностью и что делать. За пять минут — данные, метод, контрольный датасет, пошаговые логи и метрики.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[0:15–0:40] Данные — все операции кейса: 222 420 операций 150 компаний за два года, EDA пересчитан скриптом run_eda по all_operations.csv. Основные потоки — выручка и оплата поставщикам. 16 компаний хотя бы раз уходили в минус, клиенты платят в среднем через 16 дней — отсюда и риск разрывов.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[0:40–1:15] Как считаем. Читаем выписку любого формата кейса — с заголовком и без, сразу много компаний — убираем повторы и сверяем с остатком на конец дня. Раскладываем операции по статьям и находим регулярные платежи. Затем берём из истории 30-дневные отрезки, начинавшиеся в тот же день месяца, — обычно 72 штуки — и накладываем каждый на текущий остаток: получаем 72 сценария. По ним на каждый день — P10, медиана, P90, а вероятность разрыва — доля сценариев, где остаток хоть раз ушёл в минус. Статус — по простому правилу: от 10% — повышенный риск, от 50% — критический; если компания весь год не уходила в минус — от 60% и 80%, это втрое сократило ложные тревоги.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[1:15–1:45] Контрольный датасет загружаем на сайте как есть. Пример — all_operations.csv: 222 тысячи строк, 150 компаний. Сервис сам распознаёт формат — с заголовком и без, строит прогноз по каждой компании, компанию выбираем в строке статуса. Из 150 компаний 17 в критическом статусе, 13 — повышенный риск. На экране C124: 45 из 72 сценариев уводят остаток в минус, вероятность 62,5 процента.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[1:45–2:15] Пошаговые логи строит команда evaluate. В отчёте у каждой компании карточка: график и 12 шагов с реальными числами — сколько строк прочитано, что очищено, какие статьи и регулярные платежи найдены, какие периоды истории выбраны, как получились сценарии, P10–P90 и статус. Тот же текст — в calc_log.md, а каждая метрика качества с формулой и числами — в backtest_log.md.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[2:15–3:00] Как проверяли. Бэктест: на шести концах месяца строим прогноз только по прошлым операциям и сравниваем с фактом следующих 30 дней — 793 прогнозов по 137 компаниям. Матрица ошибок: статус «Повышенный риск» поймал 8 из 10 новых разрывов, recall 0,8. Цена — ложные тревоги: precision 0,10, F1 0,17. Accuracy 0,90 и 0,95, но при доле разрывов 1,3% она мало что говорит: прогноз «всегда стабильно» дал бы 0,99, не найдя ни одного разрыва.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[3:00–3:45] Точность остатка: MAE 1,17 млн ₽ против 1,23 млн ₽ у наивной модели — медиана с возвратом к обычному остатку немного точнее, RMSE 3,25 млн ₽, WAPE 25%. Сильная сторона — коридор: факт попадает между P10 и P90 в 77% случаев при ожидаемых 80. Вероятность: ROC-AUC 0,77 — рискованные компании модель ставит выше, разрыв видим в среднем за три недели. Но сама вероятность завышена: Brier 0,093 хуже постоянной 0,013 — это следующий шаг, калибровка. По всем шести датам среза картина одинаковая.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[3:45–4:20] Для контрольного датасета есть одна команда: npm run evaluate с путём к файлу. Четыре шага: прогноз по каждой компании, бэктест со всеми метриками, графики и HTML-отчёт, который сразу открывается в браузере, интернет не нужен. На всех 150 компаниях — около десяти секунд. Так жюри увидит и прогноз, и журнал, и матрицу ошибок на своём датасете.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[4:20–4:45] Итог: по одной выписке сервис строит прогноз на 30 дней, находит 8 из 10 разрывов в среднем за три недели и объясняет каждое число журналом. Контрольный датасет проверяется одной командой. Следующий шаг — калибровка вероятности, чтобы снизить ложные тревоги. Спасибо,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Слайды приложения не входят в пять минут — открываем их при вопросах.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 / FP / FN / TN: «Повышенный риск» 8 / 75 / 2 / 676, «Критический» 4 / 35 / 6 / 716. Accuracy 0,899 и 0,946, F1 0,172 и 0,163.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 в первый день 0,18 млн ₽, на 30-й — 1,62 млн ₽. Наивная модель: MAE 1,23 млн ₽, тренд — 1,36 млн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Найденные статусом «Повышенный риск» разрывы: 1, 5, 15, 18, 25, 28, 28, 30 дней от прогноза.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Ниже P10 — 8,4% точек, выше P90 — 14,7%. Коридор держится около 75–80% на всём горизонте.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FinRadar · Хакатон «Центр-инвест»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FinRadar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Видим кассовый разрыв за недели до того, как он случится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ХАКАТОН «ЦЕНТР-ИНВЕСТ» · ОСЕНЬ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Прогноз остатка на 30 дней по банковской выписке: когда, сколько не хватит, с какой вероятностью — и пошаговый журнал каждого числа.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97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github.com/egor-lap/finprognoz</a:t>
            </a:r>
            <a:endParaRPr lang="en-US" sz="1400" dirty="0"/>
          </a:p>
        </p:txBody>
      </p:sp>
      <p:sp>
        <p:nvSpPr>
          <p:cNvPr id="7" name="frame-t_forecast.png"/>
          <p:cNvSpPr/>
          <p:nvPr/>
        </p:nvSpPr>
        <p:spPr>
          <a:xfrm>
            <a:off x="6291072" y="1033272"/>
            <a:ext cx="5385816" cy="2112494"/>
          </a:xfrm>
          <a:prstGeom prst="roundRect">
            <a:avLst>
              <a:gd name="adj" fmla="val 43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8" name="Image 0" descr="Прогноз остатка на октябрь 2026: медиана и коридор P10–P90, точка возможного разрыва 14.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097280"/>
            <a:ext cx="5257800" cy="1984478"/>
          </a:xfrm>
          <a:prstGeom prst="rect">
            <a:avLst/>
          </a:prstGeom>
        </p:spPr>
      </p:pic>
      <p:sp>
        <p:nvSpPr>
          <p:cNvPr id="9" name="frame-t_alert.png"/>
          <p:cNvSpPr/>
          <p:nvPr/>
        </p:nvSpPr>
        <p:spPr>
          <a:xfrm>
            <a:off x="5925312" y="3364992"/>
            <a:ext cx="5248656" cy="1338978"/>
          </a:xfrm>
          <a:prstGeom prst="roundRect">
            <a:avLst>
              <a:gd name="adj" fmla="val 68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10" name="Image 1" descr="Предупреждение о разрыве 14.10.2026: причина и план действи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429000"/>
            <a:ext cx="5120640" cy="12109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Данные: все операции кейса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all_operations.csv: 222 420 операций, 150 компаний с 01.10.2024 по 30.09.2026</a:t>
            </a:r>
            <a:endParaRPr lang="en-US" sz="1800" dirty="0"/>
          </a:p>
        </p:txBody>
      </p:sp>
      <p:sp>
        <p:nvSpPr>
          <p:cNvPr id="4" name="eda-frame"/>
          <p:cNvSpPr/>
          <p:nvPr/>
        </p:nvSpPr>
        <p:spPr>
          <a:xfrm>
            <a:off x="1048360" y="1536192"/>
            <a:ext cx="10094976" cy="3440954"/>
          </a:xfrm>
          <a:prstGeom prst="roundRect">
            <a:avLst>
              <a:gd name="adj" fmla="val 265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EDA: ключевые потоки, отсрочка оплат, компании с отрицательным остатк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368" y="1600200"/>
            <a:ext cx="9966960" cy="33129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4173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 из 150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90378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компаний хотя бы раз уходили в минус за два года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514173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15,7 дня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5690378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средняя отсрочка оплаты счёта; позже недели — 52% счетов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27797" y="514173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36 400 ₽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127797" y="5690378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медианная операция; крупнейшая — 78,7 млн 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строим прогноз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Без «чёрного ящика»: каждое число объясняется в журнале расчёта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icon-bg-LuFileSpreadsheet"/>
          <p:cNvSpPr/>
          <p:nvPr/>
        </p:nvSpPr>
        <p:spPr>
          <a:xfrm>
            <a:off x="804672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uFile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83" y="2031431"/>
            <a:ext cx="399410" cy="3994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Выписка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Читаем CSV с заголовком и без, много компаний в файле; чистим повторы и сверяем с остатком</a:t>
            </a:r>
            <a:endParaRPr lang="en-US" sz="2000" dirty="0"/>
          </a:p>
        </p:txBody>
      </p:sp>
      <p:sp>
        <p:nvSpPr>
          <p:cNvPr id="9" name="step-arrow-0"/>
          <p:cNvSpPr/>
          <p:nvPr/>
        </p:nvSpPr>
        <p:spPr>
          <a:xfrm>
            <a:off x="3153613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3408578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icon-bg-LuTags"/>
          <p:cNvSpPr/>
          <p:nvPr/>
        </p:nvSpPr>
        <p:spPr>
          <a:xfrm>
            <a:off x="3664610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LuT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521" y="2031431"/>
            <a:ext cx="399410" cy="3994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00218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64610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Статьи и платежи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Выручка, поставщики, зарплата, налоги, аренда; типичный день регулярных платежей</a:t>
            </a:r>
            <a:endParaRPr lang="en-US" sz="2000" dirty="0"/>
          </a:p>
        </p:txBody>
      </p:sp>
      <p:sp>
        <p:nvSpPr>
          <p:cNvPr id="15" name="step-arrow-1"/>
          <p:cNvSpPr/>
          <p:nvPr/>
        </p:nvSpPr>
        <p:spPr>
          <a:xfrm>
            <a:off x="6013552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6268517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icon-bg-LuHistory"/>
          <p:cNvSpPr/>
          <p:nvPr/>
        </p:nvSpPr>
        <p:spPr>
          <a:xfrm>
            <a:off x="6524549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Lu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60" y="2031431"/>
            <a:ext cx="399410" cy="3994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60157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24549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Похожие месяцы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30-дневные отрезки истории, начинавшиеся в тот же день месяца: каждый — сценарий остатка</a:t>
            </a:r>
            <a:endParaRPr lang="en-US" sz="2000" dirty="0"/>
          </a:p>
        </p:txBody>
      </p:sp>
      <p:sp>
        <p:nvSpPr>
          <p:cNvPr id="21" name="step-arrow-2"/>
          <p:cNvSpPr/>
          <p:nvPr/>
        </p:nvSpPr>
        <p:spPr>
          <a:xfrm>
            <a:off x="8873490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9128455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sp>
        <p:nvSpPr>
          <p:cNvPr id="23" name="icon-bg-LuChartSpline"/>
          <p:cNvSpPr/>
          <p:nvPr/>
        </p:nvSpPr>
        <p:spPr>
          <a:xfrm>
            <a:off x="9384487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LuChartSp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1398" y="2031431"/>
            <a:ext cx="399410" cy="3994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820095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84487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Прогноз и риск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P10 / P50 / P90 на каждый день; вероятность разрыва — доля сценариев с минусом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Статус компании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357621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9" name="rule-mark-0"/>
          <p:cNvSpPr/>
          <p:nvPr/>
        </p:nvSpPr>
        <p:spPr>
          <a:xfrm>
            <a:off x="731520" y="5230368"/>
            <a:ext cx="146304" cy="731520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05840" y="5193792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Критический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вероятность ≥ 50% или P50 ниже нуля; без минуса за год — ≥ 80%</a:t>
            </a:r>
            <a:endParaRPr lang="en-US" sz="1700" dirty="0"/>
          </a:p>
        </p:txBody>
      </p:sp>
      <p:sp>
        <p:nvSpPr>
          <p:cNvPr id="31" name="Shape 25"/>
          <p:cNvSpPr/>
          <p:nvPr/>
        </p:nvSpPr>
        <p:spPr>
          <a:xfrm>
            <a:off x="4307738" y="5074920"/>
            <a:ext cx="357621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2" name="rule-mark-1"/>
          <p:cNvSpPr/>
          <p:nvPr/>
        </p:nvSpPr>
        <p:spPr>
          <a:xfrm>
            <a:off x="4490618" y="5230368"/>
            <a:ext cx="146304" cy="731520"/>
          </a:xfrm>
          <a:prstGeom prst="roundRect">
            <a:avLst>
              <a:gd name="adj" fmla="val 31250"/>
            </a:avLst>
          </a:prstGeom>
          <a:solidFill>
            <a:schemeClr val="accent4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4764938" y="5193792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Повышенный риск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вероятность ≥ 10% или P10 ниже нуля; без минуса за год — ≥ 60%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8066837" y="5074920"/>
            <a:ext cx="357621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5" name="rule-mark-2"/>
          <p:cNvSpPr/>
          <p:nvPr/>
        </p:nvSpPr>
        <p:spPr>
          <a:xfrm>
            <a:off x="8249717" y="5230368"/>
            <a:ext cx="146304" cy="731520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524037" y="5193792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Стабильно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во всех остальных случаях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Загружаем контрольный датасет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Пример — all_operations.csv: 222 420 строк, 150 компаний в одном файле</a:t>
            </a:r>
            <a:endParaRPr lang="en-US" sz="1800" dirty="0"/>
          </a:p>
        </p:txBody>
      </p:sp>
      <p:sp>
        <p:nvSpPr>
          <p:cNvPr id="4" name="frame-ui_8_control_dataset.png"/>
          <p:cNvSpPr/>
          <p:nvPr/>
        </p:nvSpPr>
        <p:spPr>
          <a:xfrm>
            <a:off x="484632" y="1581912"/>
            <a:ext cx="7351776" cy="4642866"/>
          </a:xfrm>
          <a:prstGeom prst="roundRect">
            <a:avLst>
              <a:gd name="adj" fmla="val 196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Сайт после загрузки all_operations.csv: выбрана компания C124, критический статус, прогнозный коридо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1600200"/>
            <a:ext cx="34134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150</a:t>
            </a:r>
            <a:endParaRPr lang="en-US" sz="44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компаний — прогноз по каждой; компания выбирается в строке статуса</a:t>
            </a:r>
            <a:endParaRPr lang="en-US" sz="4400" dirty="0"/>
          </a:p>
        </p:txBody>
      </p:sp>
      <p:sp>
        <p:nvSpPr>
          <p:cNvPr id="7" name="count-chip-0"/>
          <p:cNvSpPr/>
          <p:nvPr/>
        </p:nvSpPr>
        <p:spPr>
          <a:xfrm>
            <a:off x="8229600" y="3072384"/>
            <a:ext cx="86868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0" y="30723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3017520"/>
            <a:ext cx="2361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критический статус</a:t>
            </a:r>
            <a:endParaRPr lang="en-US" sz="1600" dirty="0"/>
          </a:p>
        </p:txBody>
      </p:sp>
      <p:sp>
        <p:nvSpPr>
          <p:cNvPr id="10" name="count-chip-1"/>
          <p:cNvSpPr/>
          <p:nvPr/>
        </p:nvSpPr>
        <p:spPr>
          <a:xfrm>
            <a:off x="8229600" y="3639312"/>
            <a:ext cx="868680" cy="42062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36393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3584448"/>
            <a:ext cx="2361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повышенный риск</a:t>
            </a:r>
            <a:endParaRPr lang="en-US" sz="1600" dirty="0"/>
          </a:p>
        </p:txBody>
      </p:sp>
      <p:sp>
        <p:nvSpPr>
          <p:cNvPr id="13" name="count-chip-2"/>
          <p:cNvSpPr/>
          <p:nvPr/>
        </p:nvSpPr>
        <p:spPr>
          <a:xfrm>
            <a:off x="8229600" y="4206240"/>
            <a:ext cx="8686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42062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120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4151376"/>
            <a:ext cx="2361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стабильно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0" y="4846320"/>
            <a:ext cx="3413455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0" y="4937760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C124 на экране: вероятность 62,5%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45 из 72 сценариев уходят в минус; худший P10 −4,1 млн ₽ к 30.10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Пошаговый журнал расчёта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Строит команда npm run evaluate: для каждой компании файла и для каждой метрики</a:t>
            </a:r>
            <a:endParaRPr lang="en-US" sz="1800" dirty="0"/>
          </a:p>
        </p:txBody>
      </p:sp>
      <p:sp>
        <p:nvSpPr>
          <p:cNvPr id="4" name="frame-report_3_company.png"/>
          <p:cNvSpPr/>
          <p:nvPr/>
        </p:nvSpPr>
        <p:spPr>
          <a:xfrm>
            <a:off x="484632" y="1581912"/>
            <a:ext cx="7351776" cy="4642866"/>
          </a:xfrm>
          <a:prstGeom prst="roundRect">
            <a:avLst>
              <a:gd name="adj" fmla="val 196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HTML-отчёт: карточка компании C124 с графиком, журналом расчёта и прогнозом по дня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223760" cy="4514850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8229600" y="16916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673352"/>
            <a:ext cx="2819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report.html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Карточка каждой компании: график, 12 шагов расчёта с её числами — от чтения файла до статуса — и прогноз по дням</a:t>
            </a:r>
            <a:endParaRPr lang="en-US" sz="1800" dirty="0"/>
          </a:p>
        </p:txBody>
      </p:sp>
      <p:sp>
        <p:nvSpPr>
          <p:cNvPr id="9" name="badge-2"/>
          <p:cNvSpPr/>
          <p:nvPr/>
        </p:nvSpPr>
        <p:spPr>
          <a:xfrm>
            <a:off x="8229600" y="31729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154680"/>
            <a:ext cx="2819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calc_log.md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Тот же журнал текстом для всех компаний файла</a:t>
            </a:r>
            <a:endParaRPr lang="en-US" sz="1800" dirty="0"/>
          </a:p>
        </p:txBody>
      </p:sp>
      <p:sp>
        <p:nvSpPr>
          <p:cNvPr id="12" name="badge-3"/>
          <p:cNvSpPr/>
          <p:nvPr/>
        </p:nvSpPr>
        <p:spPr>
          <a:xfrm>
            <a:off x="8229600" y="46542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4636008"/>
            <a:ext cx="2819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backtest_log.md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Каждая метрика — формула с подставленными числами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Бэктест: матрица ошибок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793 прогнозов «из прошлого» на 6 датах, 137 компаний; разрыв — остаток ниже 0 ₽ в ближайшие 30 дней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3776" y="1572768"/>
            <a:ext cx="7287768" cy="4155532"/>
          </a:xfrm>
          <a:prstGeom prst="roundRect">
            <a:avLst>
              <a:gd name="adj" fmla="val 176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Матрицы ошибок статусов «Повышенный риск» и «Критический» против фак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7178040" cy="40458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164592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из 10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231136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новых разрывов поймал статус «Повышенный риск»: recall 0,80, balanced accuracy 0,85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15468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0,10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739896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precision: ≈9 ложных тревог на один верный сигнал (у угадывания 0,013); F1 0,17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6634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0,90 / 0,95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5248656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 при 10% / 50%: разрывов всего 1,3%, «всегда стабильно» дало бы 0,99 и ноль находок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Точность остатка и вероятности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Бэктест на всех 150 компаниях: картина одинаковая на всех шести датах среза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1,17 млн ₽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MAE · наивная модель 1,23 млн 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7964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32556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1,06·10¹³ ₽²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32556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MSE · RMSE 3,25 млн 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7288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1880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25,3%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51880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WAPE: ошибка от величины остатка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611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71203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76,9%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171203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факт внутри коридора P10–P90 (ожидание 80%)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008376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0,77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538728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ROC-AUC: риск упорядочен верно (0,5 — угадывание)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67964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32556" y="3008376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21,5 дня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532556" y="3538728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медианный запас времени до разрыва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87288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1880" y="3008376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0,093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3538728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Brier · у константы 0,013: вероятность завышена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06611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71203" y="3008376"/>
            <a:ext cx="2307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793 прогнозов × 30 дней = 23 790 точек сравнения остатка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463040"/>
                <a:gridCol w="1554480"/>
                <a:gridCol w="2377440"/>
                <a:gridCol w="1463040"/>
                <a:gridCol w="1490472"/>
              </a:tblGrid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Дата среза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Прогнозов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Уже в минусе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Новых разрывов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Сигналов «Повышенный риск»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Из них разрыв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MAE P50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31.03.2026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1,01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30.04.2026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0,92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31.05.2026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1,04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30.06.2026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1,39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31.07.2026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1,44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31.08.2026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137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1,19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«Повышенный риск»: вероятность ≥ 10%, у компаний без минуса за год — ≥ 60%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Контрольный датасет — одной командой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Прогноз, журналы, метрики, матрицы ошибок и графики — несколько секунд на файл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evaluate -- control.csv --open</a:t>
            </a:r>
            <a:endParaRPr lang="en-US" sz="1600" dirty="0"/>
          </a:p>
        </p:txBody>
      </p:sp>
      <p:sp>
        <p:nvSpPr>
          <p:cNvPr id="6" name="icon-bg-LuUsers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Lu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9553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788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1/4 · Прогноз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каждой компании — как на сайте, с журналом расчёта</a:t>
            </a:r>
            <a:endParaRPr lang="en-US" sz="1600" dirty="0"/>
          </a:p>
        </p:txBody>
      </p:sp>
      <p:sp>
        <p:nvSpPr>
          <p:cNvPr id="9" name="icon-bg-LuHistory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824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657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2/4 · Бэктест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Accuracy, Precision, Recall, F1, MAE, MSE, RMSE, ROC-AUC, Brier</a:t>
            </a:r>
            <a:endParaRPr lang="en-US" sz="1600" dirty="0"/>
          </a:p>
        </p:txBody>
      </p:sp>
      <p:sp>
        <p:nvSpPr>
          <p:cNvPr id="12" name="icon-bg-LuChartColumn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LuChart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6927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526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3/4 · Графики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матрицы ошибок, ROC, калибровка, ошибки по горизонту</a:t>
            </a:r>
            <a:endParaRPr lang="en-US" sz="1600" dirty="0"/>
          </a:p>
        </p:txBody>
      </p:sp>
      <p:sp>
        <p:nvSpPr>
          <p:cNvPr id="15" name="icon-bg-LuFileText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LuFileT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56138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394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4/4 · Отчёт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report.html открывается без интернета</a:t>
            </a:r>
            <a:endParaRPr lang="en-US" sz="1600" dirty="0"/>
          </a:p>
        </p:txBody>
      </p:sp>
      <p:sp>
        <p:nvSpPr>
          <p:cNvPr id="18" name="frame-report_1_summary.png"/>
          <p:cNvSpPr/>
          <p:nvPr/>
        </p:nvSpPr>
        <p:spPr>
          <a:xfrm>
            <a:off x="6108192" y="1581912"/>
            <a:ext cx="5568696" cy="3528441"/>
          </a:xfrm>
          <a:prstGeom prst="roundRect">
            <a:avLst>
              <a:gd name="adj" fmla="val 25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19" name="Image 4" descr="HTML-отчёт npm run evaluate: итог по компаниям и метрик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45920"/>
            <a:ext cx="5440680" cy="340042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172200" y="5210937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Отчёт по all_operations.csv: 150 компаний, около 10 секунд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FinRadar предупреждает заранее и объясняет каждое число</a:t>
            </a:r>
            <a:endParaRPr lang="en-US" sz="3800" dirty="0"/>
          </a:p>
        </p:txBody>
      </p:sp>
      <p:sp>
        <p:nvSpPr>
          <p:cNvPr id="3" name="closing-stat-0"/>
          <p:cNvSpPr/>
          <p:nvPr/>
        </p:nvSpPr>
        <p:spPr>
          <a:xfrm>
            <a:off x="548640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из 10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новых разрывов найдено заранее</a:t>
            </a:r>
            <a:endParaRPr lang="en-US" sz="1500" dirty="0"/>
          </a:p>
        </p:txBody>
      </p:sp>
      <p:sp>
        <p:nvSpPr>
          <p:cNvPr id="6" name="closing-stat-1"/>
          <p:cNvSpPr/>
          <p:nvPr/>
        </p:nvSpPr>
        <p:spPr>
          <a:xfrm>
            <a:off x="3390824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9424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21,5 дня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медианный запас времени до разрыва</a:t>
            </a:r>
            <a:endParaRPr lang="en-US" sz="1500" dirty="0"/>
          </a:p>
        </p:txBody>
      </p:sp>
      <p:sp>
        <p:nvSpPr>
          <p:cNvPr id="9" name="closing-stat-2"/>
          <p:cNvSpPr/>
          <p:nvPr/>
        </p:nvSpPr>
        <p:spPr>
          <a:xfrm>
            <a:off x="6233008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1608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компаний: прогноз и журнал из одного файла за ~10 секунд</a:t>
            </a:r>
            <a:endParaRPr lang="en-US" sz="1500" dirty="0"/>
          </a:p>
        </p:txBody>
      </p:sp>
      <p:sp>
        <p:nvSpPr>
          <p:cNvPr id="12" name="closing-stat-3"/>
          <p:cNvSpPr/>
          <p:nvPr/>
        </p:nvSpPr>
        <p:spPr>
          <a:xfrm>
            <a:off x="9075191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03791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0,77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ROC-AUC на 761 прогнозах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Следующий шаг: 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калибровка вероятности; счета, договоры и налоговый календарь в прогнозе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Спасибо! Готовы ответить на вопросы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github.com/egor-lap/finprognoz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Приложение: для вопросов жюри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Графики построены командой npm run evaluate (presentation_assets/metrics); каждое число с формулой — в reports/backtest_log.md</a:t>
            </a:r>
            <a:endParaRPr lang="en-US" sz="1800" dirty="0"/>
          </a:p>
        </p:txBody>
      </p:sp>
      <p:sp>
        <p:nvSpPr>
          <p:cNvPr id="4" name="appendix-n-0"/>
          <p:cNvSpPr/>
          <p:nvPr/>
        </p:nvSpPr>
        <p:spPr>
          <a:xfrm>
            <a:off x="548640" y="260604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60604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Матрица ошибок статусов</a:t>
            </a:r>
            <a:endParaRPr lang="en-US" sz="2000" dirty="0"/>
          </a:p>
        </p:txBody>
      </p:sp>
      <p:sp>
        <p:nvSpPr>
          <p:cNvPr id="7" name="appendix-n-1"/>
          <p:cNvSpPr/>
          <p:nvPr/>
        </p:nvSpPr>
        <p:spPr>
          <a:xfrm>
            <a:off x="548640" y="338328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38328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MAE и RMSE по горизонту прогноза</a:t>
            </a:r>
            <a:endParaRPr lang="en-US" sz="2000" dirty="0"/>
          </a:p>
        </p:txBody>
      </p:sp>
      <p:sp>
        <p:nvSpPr>
          <p:cNvPr id="10" name="appendix-n-2"/>
          <p:cNvSpPr/>
          <p:nvPr/>
        </p:nvSpPr>
        <p:spPr>
          <a:xfrm>
            <a:off x="548640" y="41605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6052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Заблаговременность предупреждения</a:t>
            </a:r>
            <a:endParaRPr lang="en-US" sz="2000" dirty="0"/>
          </a:p>
        </p:txBody>
      </p:sp>
      <p:sp>
        <p:nvSpPr>
          <p:cNvPr id="13" name="appendix-n-3"/>
          <p:cNvSpPr/>
          <p:nvPr/>
        </p:nvSpPr>
        <p:spPr>
          <a:xfrm>
            <a:off x="548640" y="493776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3776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Коридор P10–P90: попадание факта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Матрица ошибок статусов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«Повышенный риск» нашёл 8 из 10 разрывов при 75 ложных тревогах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184" y="1545336"/>
            <a:ext cx="8339328" cy="4748230"/>
          </a:xfrm>
          <a:prstGeom prst="roundRect">
            <a:avLst>
              <a:gd name="adj" fmla="val 154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Матрицы ошибок статусов «Повышенный риск» и «Критический» против фак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1600200"/>
            <a:ext cx="8229600" cy="46385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MAE и RMSE по горизонту прогноза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Ошибка растёт с горизонтом; в среднем MAE 1,17 млн ₽, RMSE 3,25 млн 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3776" y="1865376"/>
            <a:ext cx="5519776" cy="3159028"/>
          </a:xfrm>
          <a:prstGeom prst="roundRect">
            <a:avLst>
              <a:gd name="adj" fmla="val 231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MAE по дням горизонта для трёх подход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410048" cy="3049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8144" y="1865376"/>
            <a:ext cx="5519776" cy="3159028"/>
          </a:xfrm>
          <a:prstGeom prst="roundRect">
            <a:avLst>
              <a:gd name="adj" fmla="val 231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7" name="Image 1" descr="RMSE по дням горизонта для трёх подходо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920240"/>
            <a:ext cx="5410048" cy="3049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Заблаговременность предупреждения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Найденные разрывы видны в среднем за 21,5 дня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184" y="1545336"/>
            <a:ext cx="8339328" cy="4748230"/>
          </a:xfrm>
          <a:prstGeom prst="roundRect">
            <a:avLst>
              <a:gd name="adj" fmla="val 154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Дни от прогноза до первого дня с минусом для найденных и пропущенных разрыв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1600200"/>
            <a:ext cx="8229600" cy="46385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Коридор P10–P90: попадание факта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Факт внутри коридора в 76,9% точек при ожидаемых 80%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184" y="1545336"/>
            <a:ext cx="8339328" cy="4748230"/>
          </a:xfrm>
          <a:prstGeom prst="roundRect">
            <a:avLst>
              <a:gd name="adj" fmla="val 154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6000"/>
              </a:srgbClr>
            </a:outerShdw>
          </a:effectLst>
        </p:spPr>
      </p:sp>
      <p:pic>
        <p:nvPicPr>
          <p:cNvPr id="5" name="Image 0" descr="Доля фактов внутри коридора P10–P90 по дням горизон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1600200"/>
            <a:ext cx="8229600" cy="46385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Radar">
  <a:themeElements>
    <a:clrScheme name="FinRadar">
      <a:dk1>
        <a:srgbClr val="0F172A"/>
      </a:dk1>
      <a:lt1>
        <a:srgbClr val="FFFFFF"/>
      </a:lt1>
      <a:dk2>
        <a:srgbClr val="475569"/>
      </a:dk2>
      <a:lt2>
        <a:srgbClr val="EEF2FF"/>
      </a:lt2>
      <a:accent1>
        <a:srgbClr val="4F46E5"/>
      </a:accent1>
      <a:accent2>
        <a:srgbClr val="059669"/>
      </a:accent2>
      <a:accent3>
        <a:srgbClr val="E11D48"/>
      </a:accent3>
      <a:accent4>
        <a:srgbClr val="D97706"/>
      </a:accent4>
      <a:accent5>
        <a:srgbClr val="A5B4FC"/>
      </a:accent5>
      <a:accent6>
        <a:srgbClr val="1E293B"/>
      </a:accent6>
      <a:hlink>
        <a:srgbClr val="4F46E5"/>
      </a:hlink>
      <a:folHlink>
        <a:srgbClr val="6366F1"/>
      </a:folHlink>
    </a:clrScheme>
    <a:fontScheme name="FinRad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FinRadar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FinRadar — прогноз денежных потоков и кассовых разрывов</dc:title>
  <dc:subject>Хакатон «Центр-инвест», осень 2026</dc:subject>
  <dc:creator>Команда FinRadar</dc:creator>
  <cp:lastModifiedBy>Команда FinRadar</cp:lastModifiedBy>
  <cp:revision>1</cp:revision>
  <dcterms:created xsi:type="dcterms:W3CDTF">2026-10-25T08:16:12Z</dcterms:created>
  <dcterms:modified xsi:type="dcterms:W3CDTF">2026-10-25T08:16:12Z</dcterms:modified>
</cp:coreProperties>
</file>