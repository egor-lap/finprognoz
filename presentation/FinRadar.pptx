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ыступление: 5 минут" id="{32596a23-be44-fad4-a6ab-68a93bcc4b6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Приложение: для вопросов" id="{2d57c139-eb00-1522-da58-ac67f576db6b}">
          <p14:sldIdLst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[0:00–0:20] Мы — команда FinRadar. По банковской выписке строим прогноз остатка на 30 дней и заранее предупреждаем о кассовом разрыве: когда, на сколько не хватит, с какой вероятностью и что делать. За пять минут покажем, как считаем, как загружаем контрольный датасет, где пошаговые логи и какие метрики получили.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[0:20–1:00] Как считаем. Читаем выписку любого формата кейса — с заголовком и без, сразу много компаний — убираем повторы и сверяем с остатком на конец дня. Раскладываем операции по статьям и находим регулярные платежи. Затем берём из истории 30-дневные отрезки, начинавшиеся в тот же день месяца, — обычно 72 штуки — и накладываем каждый на текущий остаток: получаем 72 сценария. По ним на каждый день — P10, медиана, P90, а вероятность разрыва — доля сценариев, где остаток хоть раз ушёл в минус. Статус — по простому правилу: от 10% — повышенный риск, от 50% — критический; если компания весь год не уходила в минус — от 60% и 80%, это втрое сократило ложные тревоги.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[1:00–1:35] Контрольный датасет загружаем на сайте как есть. Пример — test.csv кейса: 72 тысячи строк без заголовка, 51 компания. Сервис сам распознаёт формат, строит прогноз по каждой компании, компанию выбираем в строке статуса. Из 51 компании 3 в критическом статусе, 6 — повышенный риск. На экране C124: 45 из 72 сценариев уводят остаток в минус, вероятность 62,5 процента.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[1:35–2:10] Пошаговые логи. На сайте вкладка «Журнал расчёта»: 12 шагов с реальными числами — сколько строк прочитано, что очищено, какие статьи и регулярные платежи найдены, какие периоды истории выбраны, как получились сценарии, P10–P90 и статус. Тот же текст для всех компаний файла пишется в отчёт и в calc_log.md, а каждая метрика качества — с формулой и подставленными числами — в backtest_log.md.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[2:10–3:00] Как проверяли. Бэктест: на шести концах месяца строим прогноз только по прошлым операциям и сравниваем с фактом следующих 30 дней — 793 прогнозов по 137 компаниям. Матрица ошибок: статус «Повышенный риск» поймал 8 из 10 новых разрывов, recall 0,8. Цена — ложные тревоги: precision 0,10, F1 0,17. Accuracy 0,90 и 0,95, но при доле разрывов 1,3% она мало что говорит: прогноз «всегда стабильно» дал бы 0,99, не найдя ни одного разрыва.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[3:00–3:50] Точность остатка: MAE 1,17 млн ₽ против 1,23 млн ₽ у наивной модели — медиана с возвратом к обычному остатку немного точнее, RMSE 3,25 млн ₽, WAPE 25%. Сильная сторона — коридор: факт попадает между P10 и P90 в 77% случаев при ожидаемых 80. Вероятность: ROC-AUC 0,77 — рискованные компании модель ставит выше, разрыв видим в среднем за три недели. Но сама вероятность завышена: Brier 0,093 хуже постоянной 0,013 — это следующий шаг, калибровка. На наших и тестовых данных метрики близки: модель не подогнана под train.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[3:50–4:25] Для контрольного датасета есть одна команда: npm run evaluate с путём к файлу. Четыре шага: прогноз по каждой компании, бэктест со всеми метриками, графики и HTML-отчёт, который сразу открывается в браузере, интернет не нужен. На test.csv — пять секунд. Так жюри увидит и прогноз, и журнал, и матрицу ошибок на своём датасете.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[4:25–4:50] Итог: по одной выписке сервис строит прогноз на 30 дней, находит 8 из 10 разрывов в среднем за три недели и объясняет каждое число журналом. Контрольный датасет проверяется одной командой. Следующий шаг — калибровка вероятности, чтобы снизить ложные тревоги. Спасибо, готовы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Слайды приложения не входят в пять минут — открываем их при вопросах.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ROC-AUC 0,773. Калибровка: в группе с вероятностью от 50% в среднем обещано 72%, разрыв случился в 5,1%. Отсюда Brier 0,0932 против 0,0130 у константы.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Порог 10% — статус «Повышенный риск», 50% — «Критический». Precision выше случайного угадывания на всех порогах, но остаётся низким: разрывы редкие.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MAE в первый день 0,18 млн ₽, на 30-й — 1,62 млн 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Найденные статусом «Повышенный риск» разрывы: 1, 5, 15, 18, 25, 28, 28, 30 дней от прогноза. Коридор P10–P90 держится около 75–80% на всём горизонте.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56692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539496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FinRadar · Хакатон «Центр-инвест»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FinRadar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5394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2"/>
                </a:solidFill>
              </a:rPr>
              <a:t>Видим кассовый разрыв за недели до того, как он случится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ХАКАТОН «ЦЕНТР-ИНВЕСТ» · ОСЕНЬ 2026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Прогноз остатка на 30 дней по банковской выписке: когда, сколько не хватит, с какой вероятностью — и пошаговый журнал каждого числа.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897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github.com/egor-lap/finprognoz</a:t>
            </a:r>
            <a:endParaRPr lang="en-US" sz="1400" dirty="0"/>
          </a:p>
        </p:txBody>
      </p:sp>
      <p:sp>
        <p:nvSpPr>
          <p:cNvPr id="7" name="frame-t_forecast.png"/>
          <p:cNvSpPr/>
          <p:nvPr/>
        </p:nvSpPr>
        <p:spPr>
          <a:xfrm>
            <a:off x="6291072" y="1033272"/>
            <a:ext cx="5385816" cy="2112494"/>
          </a:xfrm>
          <a:prstGeom prst="roundRect">
            <a:avLst>
              <a:gd name="adj" fmla="val 4329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8" name="Image 0" descr="Прогноз остатка на октябрь 2026: медиана и коридор P10–P90, точка возможного разрыва 14.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097280"/>
            <a:ext cx="5257800" cy="1984478"/>
          </a:xfrm>
          <a:prstGeom prst="rect">
            <a:avLst/>
          </a:prstGeom>
        </p:spPr>
      </p:pic>
      <p:sp>
        <p:nvSpPr>
          <p:cNvPr id="9" name="frame-t_alert.png"/>
          <p:cNvSpPr/>
          <p:nvPr/>
        </p:nvSpPr>
        <p:spPr>
          <a:xfrm>
            <a:off x="5925312" y="3364992"/>
            <a:ext cx="5248656" cy="1338978"/>
          </a:xfrm>
          <a:prstGeom prst="roundRect">
            <a:avLst>
              <a:gd name="adj" fmla="val 6829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10" name="Image 1" descr="Предупреждение о разрыве 14.10.2026: причина и план действий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3429000"/>
            <a:ext cx="5120640" cy="12109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Как строим прогноз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Без «чёрного ящика»: каждое число объясняется в журнале расчёта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14600" cy="27432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sp>
        <p:nvSpPr>
          <p:cNvPr id="5" name="icon-bg-LuFileSpreadsheet"/>
          <p:cNvSpPr/>
          <p:nvPr/>
        </p:nvSpPr>
        <p:spPr>
          <a:xfrm>
            <a:off x="804672" y="1874520"/>
            <a:ext cx="713232" cy="7132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LuFileSpreadshe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583" y="2031431"/>
            <a:ext cx="399410" cy="3994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189280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2788920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Выписка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Читаем CSV с заголовком и без, много компаний в файле; чистим повторы и сверяем с остатком</a:t>
            </a:r>
            <a:endParaRPr lang="en-US" sz="2000" dirty="0"/>
          </a:p>
        </p:txBody>
      </p:sp>
      <p:sp>
        <p:nvSpPr>
          <p:cNvPr id="9" name="step-arrow-0"/>
          <p:cNvSpPr/>
          <p:nvPr/>
        </p:nvSpPr>
        <p:spPr>
          <a:xfrm>
            <a:off x="3153613" y="2880360"/>
            <a:ext cx="164592" cy="274320"/>
          </a:xfrm>
          <a:prstGeom prst="chevron">
            <a:avLst/>
          </a:prstGeom>
          <a:solidFill>
            <a:schemeClr val="accent5"/>
          </a:solidFill>
          <a:ln/>
        </p:spPr>
      </p:sp>
      <p:sp>
        <p:nvSpPr>
          <p:cNvPr id="10" name="Shape 7"/>
          <p:cNvSpPr/>
          <p:nvPr/>
        </p:nvSpPr>
        <p:spPr>
          <a:xfrm>
            <a:off x="3408578" y="1645920"/>
            <a:ext cx="2514600" cy="27432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sp>
        <p:nvSpPr>
          <p:cNvPr id="11" name="icon-bg-LuTags"/>
          <p:cNvSpPr/>
          <p:nvPr/>
        </p:nvSpPr>
        <p:spPr>
          <a:xfrm>
            <a:off x="3664610" y="1874520"/>
            <a:ext cx="713232" cy="7132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1" descr="LuTa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1521" y="2031431"/>
            <a:ext cx="399410" cy="39941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100218" y="189280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664610" y="2788920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Статьи и платежи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Выручка, поставщики, зарплата, налоги, аренда; типичный день регулярных платежей</a:t>
            </a:r>
            <a:endParaRPr lang="en-US" sz="2000" dirty="0"/>
          </a:p>
        </p:txBody>
      </p:sp>
      <p:sp>
        <p:nvSpPr>
          <p:cNvPr id="15" name="step-arrow-1"/>
          <p:cNvSpPr/>
          <p:nvPr/>
        </p:nvSpPr>
        <p:spPr>
          <a:xfrm>
            <a:off x="6013552" y="2880360"/>
            <a:ext cx="164592" cy="274320"/>
          </a:xfrm>
          <a:prstGeom prst="chevron">
            <a:avLst/>
          </a:prstGeom>
          <a:solidFill>
            <a:schemeClr val="accent5"/>
          </a:solidFill>
          <a:ln/>
        </p:spPr>
      </p:sp>
      <p:sp>
        <p:nvSpPr>
          <p:cNvPr id="16" name="Shape 12"/>
          <p:cNvSpPr/>
          <p:nvPr/>
        </p:nvSpPr>
        <p:spPr>
          <a:xfrm>
            <a:off x="6268517" y="1645920"/>
            <a:ext cx="2514600" cy="27432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sp>
        <p:nvSpPr>
          <p:cNvPr id="17" name="icon-bg-LuHistory"/>
          <p:cNvSpPr/>
          <p:nvPr/>
        </p:nvSpPr>
        <p:spPr>
          <a:xfrm>
            <a:off x="6524549" y="1874520"/>
            <a:ext cx="713232" cy="7132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2" descr="Lu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1460" y="2031431"/>
            <a:ext cx="399410" cy="39941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960157" y="189280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6524549" y="2788920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Похожие месяцы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30-дневные отрезки истории, начинавшиеся в тот же день месяца: каждый — сценарий остатка</a:t>
            </a:r>
            <a:endParaRPr lang="en-US" sz="2000" dirty="0"/>
          </a:p>
        </p:txBody>
      </p:sp>
      <p:sp>
        <p:nvSpPr>
          <p:cNvPr id="21" name="step-arrow-2"/>
          <p:cNvSpPr/>
          <p:nvPr/>
        </p:nvSpPr>
        <p:spPr>
          <a:xfrm>
            <a:off x="8873490" y="2880360"/>
            <a:ext cx="164592" cy="274320"/>
          </a:xfrm>
          <a:prstGeom prst="chevron">
            <a:avLst/>
          </a:prstGeom>
          <a:solidFill>
            <a:schemeClr val="accent5"/>
          </a:solidFill>
          <a:ln/>
        </p:spPr>
      </p:sp>
      <p:sp>
        <p:nvSpPr>
          <p:cNvPr id="22" name="Shape 17"/>
          <p:cNvSpPr/>
          <p:nvPr/>
        </p:nvSpPr>
        <p:spPr>
          <a:xfrm>
            <a:off x="9128455" y="1645920"/>
            <a:ext cx="2514600" cy="27432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sp>
        <p:nvSpPr>
          <p:cNvPr id="23" name="icon-bg-LuChartSpline"/>
          <p:cNvSpPr/>
          <p:nvPr/>
        </p:nvSpPr>
        <p:spPr>
          <a:xfrm>
            <a:off x="9384487" y="1874520"/>
            <a:ext cx="713232" cy="7132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mage 3" descr="LuChartSp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398" y="2031431"/>
            <a:ext cx="399410" cy="39941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820095" y="189280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9384487" y="2788920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Прогноз и риск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P10 / P50 / P90 на каждый день; вероятность разрыва — доля сценариев с минусом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Статус компании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548640" y="5074920"/>
            <a:ext cx="357621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29" name="rule-mark-0"/>
          <p:cNvSpPr/>
          <p:nvPr/>
        </p:nvSpPr>
        <p:spPr>
          <a:xfrm>
            <a:off x="731520" y="5230368"/>
            <a:ext cx="146304" cy="731520"/>
          </a:xfrm>
          <a:prstGeom prst="roundRect">
            <a:avLst>
              <a:gd name="adj" fmla="val 31250"/>
            </a:avLst>
          </a:prstGeom>
          <a:solidFill>
            <a:schemeClr val="accent3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1005840" y="5193792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3"/>
                </a:solidFill>
              </a:rPr>
              <a:t>Критический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вероятность ≥ 50% или P50 ниже нуля; без минуса за год — ≥ 80%</a:t>
            </a:r>
            <a:endParaRPr lang="en-US" sz="1700" dirty="0"/>
          </a:p>
        </p:txBody>
      </p:sp>
      <p:sp>
        <p:nvSpPr>
          <p:cNvPr id="31" name="Shape 25"/>
          <p:cNvSpPr/>
          <p:nvPr/>
        </p:nvSpPr>
        <p:spPr>
          <a:xfrm>
            <a:off x="4307738" y="5074920"/>
            <a:ext cx="357621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32" name="rule-mark-1"/>
          <p:cNvSpPr/>
          <p:nvPr/>
        </p:nvSpPr>
        <p:spPr>
          <a:xfrm>
            <a:off x="4490618" y="5230368"/>
            <a:ext cx="146304" cy="731520"/>
          </a:xfrm>
          <a:prstGeom prst="roundRect">
            <a:avLst>
              <a:gd name="adj" fmla="val 31250"/>
            </a:avLst>
          </a:prstGeom>
          <a:solidFill>
            <a:schemeClr val="accent4"/>
          </a:solidFill>
          <a:ln/>
        </p:spPr>
      </p:sp>
      <p:sp>
        <p:nvSpPr>
          <p:cNvPr id="33" name="Text 27"/>
          <p:cNvSpPr txBox="1"/>
          <p:nvPr/>
        </p:nvSpPr>
        <p:spPr>
          <a:xfrm>
            <a:off x="4764938" y="5193792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Повышенный риск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вероятность ≥ 10% или P10 ниже нуля; без минуса за год — ≥ 60%</a:t>
            </a:r>
            <a:endParaRPr lang="en-US" sz="1700" dirty="0"/>
          </a:p>
        </p:txBody>
      </p:sp>
      <p:sp>
        <p:nvSpPr>
          <p:cNvPr id="34" name="Shape 28"/>
          <p:cNvSpPr/>
          <p:nvPr/>
        </p:nvSpPr>
        <p:spPr>
          <a:xfrm>
            <a:off x="8066837" y="5074920"/>
            <a:ext cx="357621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35" name="rule-mark-2"/>
          <p:cNvSpPr/>
          <p:nvPr/>
        </p:nvSpPr>
        <p:spPr>
          <a:xfrm>
            <a:off x="8249717" y="5230368"/>
            <a:ext cx="146304" cy="731520"/>
          </a:xfrm>
          <a:prstGeom prst="roundRect">
            <a:avLst>
              <a:gd name="adj" fmla="val 31250"/>
            </a:avLst>
          </a:prstGeom>
          <a:solidFill>
            <a:schemeClr val="accent2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8524037" y="5193792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</a:rPr>
              <a:t>Стабильно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во всех остальных случаях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Загружаем контрольный датасет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Пример — test.csv кейса: 72 062 строки без заголовка, 51 компания в одном файле</a:t>
            </a:r>
            <a:endParaRPr lang="en-US" sz="1800" dirty="0"/>
          </a:p>
        </p:txBody>
      </p:sp>
      <p:sp>
        <p:nvSpPr>
          <p:cNvPr id="4" name="frame-ui_8_control_dataset.png"/>
          <p:cNvSpPr/>
          <p:nvPr/>
        </p:nvSpPr>
        <p:spPr>
          <a:xfrm>
            <a:off x="484632" y="1581912"/>
            <a:ext cx="7351776" cy="4642866"/>
          </a:xfrm>
          <a:prstGeom prst="roundRect">
            <a:avLst>
              <a:gd name="adj" fmla="val 1969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Сайт после загрузки test.csv: выбрана компания C124, критический статус, прогнозный коридо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223760" cy="4514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0" y="1600200"/>
            <a:ext cx="34134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51</a:t>
            </a:r>
            <a:endParaRPr lang="en-US" sz="44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компания — прогноз по каждой; компания выбирается в строке статуса</a:t>
            </a:r>
            <a:endParaRPr lang="en-US" sz="4400" dirty="0"/>
          </a:p>
        </p:txBody>
      </p:sp>
      <p:sp>
        <p:nvSpPr>
          <p:cNvPr id="7" name="count-chip-0"/>
          <p:cNvSpPr/>
          <p:nvPr/>
        </p:nvSpPr>
        <p:spPr>
          <a:xfrm>
            <a:off x="8229600" y="3072384"/>
            <a:ext cx="868680" cy="42062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0" y="30723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281160" y="3017520"/>
            <a:ext cx="2361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критический статус</a:t>
            </a:r>
            <a:endParaRPr lang="en-US" sz="1600" dirty="0"/>
          </a:p>
        </p:txBody>
      </p:sp>
      <p:sp>
        <p:nvSpPr>
          <p:cNvPr id="10" name="count-chip-1"/>
          <p:cNvSpPr/>
          <p:nvPr/>
        </p:nvSpPr>
        <p:spPr>
          <a:xfrm>
            <a:off x="8229600" y="3639312"/>
            <a:ext cx="868680" cy="42062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0" y="36393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9281160" y="3584448"/>
            <a:ext cx="2361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повышенный риск</a:t>
            </a:r>
            <a:endParaRPr lang="en-US" sz="1600" dirty="0"/>
          </a:p>
        </p:txBody>
      </p:sp>
      <p:sp>
        <p:nvSpPr>
          <p:cNvPr id="13" name="count-chip-2"/>
          <p:cNvSpPr/>
          <p:nvPr/>
        </p:nvSpPr>
        <p:spPr>
          <a:xfrm>
            <a:off x="8229600" y="4206240"/>
            <a:ext cx="868680" cy="42062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0" y="420624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42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9281160" y="4151376"/>
            <a:ext cx="2361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стабильно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229600" y="4846320"/>
            <a:ext cx="341345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412480" y="4937760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C124 на экране: вероятность 62,5%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45 из 72 сценариев уходят в минус; худший P10 −4,1 млн ₽ к 30.10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Пошаговый журнал расчёта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Один и тот же текст — на сайте, в HTML-отчёте и в файле calc_log.md</a:t>
            </a:r>
            <a:endParaRPr lang="en-US" sz="1800" dirty="0"/>
          </a:p>
        </p:txBody>
      </p:sp>
      <p:sp>
        <p:nvSpPr>
          <p:cNvPr id="4" name="frame-ui_9_control_calc_log.png"/>
          <p:cNvSpPr/>
          <p:nvPr/>
        </p:nvSpPr>
        <p:spPr>
          <a:xfrm>
            <a:off x="484632" y="1581912"/>
            <a:ext cx="7351776" cy="4642866"/>
          </a:xfrm>
          <a:prstGeom prst="roundRect">
            <a:avLst>
              <a:gd name="adj" fmla="val 1969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Вкладка «4. Журнал расчёта» для компании C1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223760" cy="4514850"/>
          </a:xfrm>
          <a:prstGeom prst="rect">
            <a:avLst/>
          </a:prstGeom>
        </p:spPr>
      </p:pic>
      <p:sp>
        <p:nvSpPr>
          <p:cNvPr id="6" name="badge-1"/>
          <p:cNvSpPr/>
          <p:nvPr/>
        </p:nvSpPr>
        <p:spPr>
          <a:xfrm>
            <a:off x="8229600" y="169164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0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823960" y="1673352"/>
            <a:ext cx="28190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На сайте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Вкладка «4. Журнал расчёта»: 12 шагов с числами этой компании — от чтения файла до статуса</a:t>
            </a:r>
            <a:endParaRPr lang="en-US" sz="1800" dirty="0"/>
          </a:p>
        </p:txBody>
      </p:sp>
      <p:sp>
        <p:nvSpPr>
          <p:cNvPr id="9" name="badge-2"/>
          <p:cNvSpPr/>
          <p:nvPr/>
        </p:nvSpPr>
        <p:spPr>
          <a:xfrm>
            <a:off x="8229600" y="31729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0" y="3172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823960" y="3154680"/>
            <a:ext cx="28190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По всему файлу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report.html и calc_log.md: журнал и прогноз по дням для каждой компании файла</a:t>
            </a:r>
            <a:endParaRPr lang="en-US" sz="1800" dirty="0"/>
          </a:p>
        </p:txBody>
      </p:sp>
      <p:sp>
        <p:nvSpPr>
          <p:cNvPr id="12" name="badge-3"/>
          <p:cNvSpPr/>
          <p:nvPr/>
        </p:nvSpPr>
        <p:spPr>
          <a:xfrm>
            <a:off x="8229600" y="465429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823960" y="4636008"/>
            <a:ext cx="28190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Для метрик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backtest_log.md: каждая метрика — формула с подставленными числами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Бэктест: матрица ошибок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793 прогнозов «из прошлого» на 6 датах, 137 компаний; разрыв — остаток ниже 0 ₽ в ближайшие 30 дней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93776" y="1572768"/>
            <a:ext cx="7287768" cy="4155532"/>
          </a:xfrm>
          <a:prstGeom prst="roundRect">
            <a:avLst>
              <a:gd name="adj" fmla="val 176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Матрицы ошибок статусов «Повышенный риск» и «Критический» против фак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7632"/>
            <a:ext cx="7178040" cy="40458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83880" y="1645920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 из 10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2231136"/>
            <a:ext cx="3459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новых разрывов поймал статус «Повышенный риск»: recall 0,80, balanced accuracy 0,85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3154680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0,10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3739896"/>
            <a:ext cx="3459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precision: ≈9 ложных тревог на один верный сигнал (у угадывания 0,013); F1 0,17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83880" y="4663440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0,90 / 0,95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5248656"/>
            <a:ext cx="3459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accuracy при 10% / 50%: разрывов всего 1,3%, «всегда стабильно» дало бы 0,99 и ноль находок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Точность остатка и вероятности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Наши (train) и тестовые (test) данные — разные компании, а метрики близки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709928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1,17 млн ₽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240280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MAE · наивная модель 1,23 млн ₽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67964" y="1600200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32556" y="1709928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1,06·10¹³ ₽²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532556" y="2240280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MSE · RMSE 3,25 млн ₽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87288" y="1600200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1880" y="1709928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25,3%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351880" y="2240280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WAPE: ошибка от величины остатка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06611" y="1600200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71203" y="1709928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76,9%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9171203" y="2240280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факт внутри коридора P10–P90 (ожидание 80%)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2898648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232" y="3008376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0,77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3538728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ROC-AUC: риск упорядочен верно (0,5 — угадывание)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367964" y="2898648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32556" y="3008376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21,5 дня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3532556" y="3538728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медианный запас времени до разрыва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87288" y="2898648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51880" y="3008376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0,093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6351880" y="3538728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Brier · у константы 0,013: вероятность завышена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006611" y="2898648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tx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71203" y="3008376"/>
            <a:ext cx="23072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793 прогнозов × 30 дней = 23 790 точек сравнения остатка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434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868680"/>
                <a:gridCol w="777240"/>
                <a:gridCol w="914400"/>
                <a:gridCol w="777240"/>
                <a:gridCol w="914400"/>
                <a:gridCol w="777240"/>
                <a:gridCol w="1234440"/>
                <a:gridCol w="868680"/>
                <a:gridCol w="103327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Данные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Прогнозов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Разрывов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F1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ROC-AUC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Brier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MAE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WAPE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P10–P90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train.csv (наши)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519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0,71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0,093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0,164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0,77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0,091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1,42 млн ₽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26,7%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76,4%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test.csv (тестовые)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274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0,103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0,188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0,79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0,098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0,68 млн ₽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21,2%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77,8%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Все вместе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793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0,80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0,096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0,172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0,77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0,093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1,17 млн ₽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25,3%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76,9%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8" name="Text 25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Recall, Precision, F1 — для статуса «Повышенный риск»: вероятность ≥ 10%, у компаний без минуса за год — ≥ 60%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Контрольный датасет — одной командой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Прогноз, журналы, метрики, матрицы ошибок и графики — несколько секунд на файл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91440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evaluate -- control.csv --open</a:t>
            </a:r>
            <a:endParaRPr lang="en-US" sz="1600" dirty="0"/>
          </a:p>
        </p:txBody>
      </p:sp>
      <p:sp>
        <p:nvSpPr>
          <p:cNvPr id="6" name="icon-bg-LuUsers"/>
          <p:cNvSpPr/>
          <p:nvPr/>
        </p:nvSpPr>
        <p:spPr>
          <a:xfrm>
            <a:off x="548640" y="2834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Lu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29553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278892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Шаг 1/4 · Прогноз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2"/>
                </a:solidFill>
              </a:rPr>
              <a:t>каждой компании — как на сайте, с журналом расчёта</a:t>
            </a:r>
            <a:endParaRPr lang="en-US" sz="1600" dirty="0"/>
          </a:p>
        </p:txBody>
      </p:sp>
      <p:sp>
        <p:nvSpPr>
          <p:cNvPr id="9" name="icon-bg-LuHistory"/>
          <p:cNvSpPr/>
          <p:nvPr/>
        </p:nvSpPr>
        <p:spPr>
          <a:xfrm>
            <a:off x="548640" y="3703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Lu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1" y="382402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36576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Шаг 2/4 · Бэктест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2"/>
                </a:solidFill>
              </a:rPr>
              <a:t>Accuracy, Precision, Recall, F1, MAE, MSE, RMSE, ROC-AUC, Brier</a:t>
            </a:r>
            <a:endParaRPr lang="en-US" sz="1600" dirty="0"/>
          </a:p>
        </p:txBody>
      </p:sp>
      <p:sp>
        <p:nvSpPr>
          <p:cNvPr id="12" name="icon-bg-LuChartColumn"/>
          <p:cNvSpPr/>
          <p:nvPr/>
        </p:nvSpPr>
        <p:spPr>
          <a:xfrm>
            <a:off x="548640" y="4572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LuChartColum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4692701"/>
            <a:ext cx="307238" cy="30723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452628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Шаг 3/4 · Графики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2"/>
                </a:solidFill>
              </a:rPr>
              <a:t>матрицы ошибок, ROC, калибровка, ошибки по горизонту</a:t>
            </a:r>
            <a:endParaRPr lang="en-US" sz="1600" dirty="0"/>
          </a:p>
        </p:txBody>
      </p:sp>
      <p:sp>
        <p:nvSpPr>
          <p:cNvPr id="15" name="icon-bg-LuFileText"/>
          <p:cNvSpPr/>
          <p:nvPr/>
        </p:nvSpPr>
        <p:spPr>
          <a:xfrm>
            <a:off x="548640" y="5440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3" descr="LuFileTex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5561381"/>
            <a:ext cx="307238" cy="30723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53949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Шаг 4/4 · Отчёт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2"/>
                </a:solidFill>
              </a:rPr>
              <a:t>report.html открывается без интернета</a:t>
            </a:r>
            <a:endParaRPr lang="en-US" sz="1600" dirty="0"/>
          </a:p>
        </p:txBody>
      </p:sp>
      <p:sp>
        <p:nvSpPr>
          <p:cNvPr id="18" name="frame-report_1_summary.png"/>
          <p:cNvSpPr/>
          <p:nvPr/>
        </p:nvSpPr>
        <p:spPr>
          <a:xfrm>
            <a:off x="6108192" y="1581912"/>
            <a:ext cx="5568696" cy="3528441"/>
          </a:xfrm>
          <a:prstGeom prst="roundRect">
            <a:avLst>
              <a:gd name="adj" fmla="val 2592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19" name="Image 4" descr="HTML-отчёт npm run evaluate: итог по компаниям и метрики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645920"/>
            <a:ext cx="5440680" cy="340042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172200" y="5210937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Отчёт по test.csv: 51 компания, около 5 секунд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FinRadar предупреждает заранее и объясняет каждое число</a:t>
            </a:r>
            <a:endParaRPr lang="en-US" sz="3800" dirty="0"/>
          </a:p>
        </p:txBody>
      </p:sp>
      <p:sp>
        <p:nvSpPr>
          <p:cNvPr id="3" name="closing-stat-0"/>
          <p:cNvSpPr/>
          <p:nvPr/>
        </p:nvSpPr>
        <p:spPr>
          <a:xfrm>
            <a:off x="548640" y="1783080"/>
            <a:ext cx="2567864" cy="1691640"/>
          </a:xfrm>
          <a:prstGeom prst="roundRect">
            <a:avLst>
              <a:gd name="adj" fmla="val 7568"/>
            </a:avLst>
          </a:prstGeom>
          <a:solidFill>
            <a:schemeClr val="accent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92024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 из 10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70048"/>
            <a:ext cx="2110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новых разрывов найдено заранее</a:t>
            </a:r>
            <a:endParaRPr lang="en-US" sz="1500" dirty="0"/>
          </a:p>
        </p:txBody>
      </p:sp>
      <p:sp>
        <p:nvSpPr>
          <p:cNvPr id="6" name="closing-stat-1"/>
          <p:cNvSpPr/>
          <p:nvPr/>
        </p:nvSpPr>
        <p:spPr>
          <a:xfrm>
            <a:off x="3390824" y="1783080"/>
            <a:ext cx="2567864" cy="1691640"/>
          </a:xfrm>
          <a:prstGeom prst="roundRect">
            <a:avLst>
              <a:gd name="adj" fmla="val 7568"/>
            </a:avLst>
          </a:prstGeom>
          <a:solidFill>
            <a:schemeClr val="accent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19424" y="192024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21,5 дня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619424" y="2670048"/>
            <a:ext cx="2110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медианный запас времени до разрыва</a:t>
            </a:r>
            <a:endParaRPr lang="en-US" sz="1500" dirty="0"/>
          </a:p>
        </p:txBody>
      </p:sp>
      <p:sp>
        <p:nvSpPr>
          <p:cNvPr id="9" name="closing-stat-2"/>
          <p:cNvSpPr/>
          <p:nvPr/>
        </p:nvSpPr>
        <p:spPr>
          <a:xfrm>
            <a:off x="6233008" y="1783080"/>
            <a:ext cx="2567864" cy="1691640"/>
          </a:xfrm>
          <a:prstGeom prst="roundRect">
            <a:avLst>
              <a:gd name="adj" fmla="val 7568"/>
            </a:avLst>
          </a:prstGeom>
          <a:solidFill>
            <a:schemeClr val="accent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61608" y="192024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51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670048"/>
            <a:ext cx="2110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компания: прогноз и журнал из одного файла за ~5 секунд</a:t>
            </a:r>
            <a:endParaRPr lang="en-US" sz="1500" dirty="0"/>
          </a:p>
        </p:txBody>
      </p:sp>
      <p:sp>
        <p:nvSpPr>
          <p:cNvPr id="12" name="closing-stat-3"/>
          <p:cNvSpPr/>
          <p:nvPr/>
        </p:nvSpPr>
        <p:spPr>
          <a:xfrm>
            <a:off x="9075191" y="1783080"/>
            <a:ext cx="2567864" cy="1691640"/>
          </a:xfrm>
          <a:prstGeom prst="roundRect">
            <a:avLst>
              <a:gd name="adj" fmla="val 7568"/>
            </a:avLst>
          </a:prstGeom>
          <a:solidFill>
            <a:schemeClr val="accent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303791" y="192024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0,77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9303791" y="2670048"/>
            <a:ext cx="2110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ROC-AUC на 761 прогнозах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404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Следующий шаг: </a:t>
            </a:r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калибровка вероятности; счета, договоры и налоговый календарь в прогнозе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091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Спасибо! Готовы ответить на вопросы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394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github.com/egor-lap/finprognoz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Приложение: для вопросов жюри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Графики построены командой npm run evaluate (presentation_assets/metrics); каждое число с формулой — в reports/backtest_log.md</a:t>
            </a:r>
            <a:endParaRPr lang="en-US" sz="1800" dirty="0"/>
          </a:p>
        </p:txBody>
      </p:sp>
      <p:sp>
        <p:nvSpPr>
          <p:cNvPr id="4" name="appendix-n-0"/>
          <p:cNvSpPr/>
          <p:nvPr/>
        </p:nvSpPr>
        <p:spPr>
          <a:xfrm>
            <a:off x="548640" y="2606040"/>
            <a:ext cx="548640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606040"/>
            <a:ext cx="10317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ROC-кривая и калибровка вероятности</a:t>
            </a:r>
            <a:endParaRPr lang="en-US" sz="2000" dirty="0"/>
          </a:p>
        </p:txBody>
      </p:sp>
      <p:sp>
        <p:nvSpPr>
          <p:cNvPr id="7" name="appendix-n-1"/>
          <p:cNvSpPr/>
          <p:nvPr/>
        </p:nvSpPr>
        <p:spPr>
          <a:xfrm>
            <a:off x="548640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383280"/>
            <a:ext cx="10317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Precision и Recall по порогу вероятности</a:t>
            </a:r>
            <a:endParaRPr lang="en-US" sz="2000" dirty="0"/>
          </a:p>
        </p:txBody>
      </p:sp>
      <p:sp>
        <p:nvSpPr>
          <p:cNvPr id="10" name="appendix-n-2"/>
          <p:cNvSpPr/>
          <p:nvPr/>
        </p:nvSpPr>
        <p:spPr>
          <a:xfrm>
            <a:off x="548640" y="4160520"/>
            <a:ext cx="548640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160520"/>
            <a:ext cx="10317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MAE и RMSE по горизонту прогноза</a:t>
            </a:r>
            <a:endParaRPr lang="en-US" sz="2000" dirty="0"/>
          </a:p>
        </p:txBody>
      </p:sp>
      <p:sp>
        <p:nvSpPr>
          <p:cNvPr id="13" name="appendix-n-3"/>
          <p:cNvSpPr/>
          <p:nvPr/>
        </p:nvSpPr>
        <p:spPr>
          <a:xfrm>
            <a:off x="548640" y="4937760"/>
            <a:ext cx="548640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937760"/>
            <a:ext cx="10317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Заблаговременность и честность коридора P10–P90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ROC-кривая и калибровка вероятности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Риск упорядочен верно, но обещанная вероятность выше случившейся частоты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926184" y="1545336"/>
            <a:ext cx="8339328" cy="4748230"/>
          </a:xfrm>
          <a:prstGeom prst="roundRect">
            <a:avLst>
              <a:gd name="adj" fmla="val 154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ROC-кривая с порогами 10% и 50% и калибровка: обещано против случившегос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048" y="1600200"/>
            <a:ext cx="8229600" cy="463850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Precision и Recall по порогу вероятности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Чем выше порог, тем меньше тревог, но и найденных разрывов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926184" y="1545336"/>
            <a:ext cx="8339328" cy="4748230"/>
          </a:xfrm>
          <a:prstGeom prst="roundRect">
            <a:avLst>
              <a:gd name="adj" fmla="val 154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Precision с 95% интервалом и recall по порогу вероятности от 5 до 95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048" y="1600200"/>
            <a:ext cx="8229600" cy="463850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MAE и RMSE по горизонту прогноза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Ошибка растёт с горизонтом; модель на уровне наивной и лучше линейного тренда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926184" y="1545336"/>
            <a:ext cx="8339328" cy="4748230"/>
          </a:xfrm>
          <a:prstGeom prst="roundRect">
            <a:avLst>
              <a:gd name="adj" fmla="val 154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MAE по дням горизонта для трёх подходо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048" y="1600200"/>
            <a:ext cx="8229600" cy="463850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Заблаговременность и честность коридора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Предупреждение в среднем за 21,5 дня; факт внутри P10–P90 в 76,9% точек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5519776" cy="3159028"/>
          </a:xfrm>
          <a:prstGeom prst="roundRect">
            <a:avLst>
              <a:gd name="adj" fmla="val 231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Дни от прогноза до первого дня с минусом для найденных и пропущенных разрыво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5410048" cy="3049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78144" y="1865376"/>
            <a:ext cx="5519776" cy="3159028"/>
          </a:xfrm>
          <a:prstGeom prst="roundRect">
            <a:avLst>
              <a:gd name="adj" fmla="val 231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7" name="Image 1" descr="Доля фактов внутри коридора P10–P90 по дням горизонт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008" y="1920240"/>
            <a:ext cx="5410048" cy="30493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inRadar">
  <a:themeElements>
    <a:clrScheme name="FinRadar">
      <a:dk1>
        <a:srgbClr val="0F172A"/>
      </a:dk1>
      <a:lt1>
        <a:srgbClr val="FFFFFF"/>
      </a:lt1>
      <a:dk2>
        <a:srgbClr val="475569"/>
      </a:dk2>
      <a:lt2>
        <a:srgbClr val="EEF2FF"/>
      </a:lt2>
      <a:accent1>
        <a:srgbClr val="4F46E5"/>
      </a:accent1>
      <a:accent2>
        <a:srgbClr val="059669"/>
      </a:accent2>
      <a:accent3>
        <a:srgbClr val="E11D48"/>
      </a:accent3>
      <a:accent4>
        <a:srgbClr val="D97706"/>
      </a:accent4>
      <a:accent5>
        <a:srgbClr val="A5B4FC"/>
      </a:accent5>
      <a:accent6>
        <a:srgbClr val="1E293B"/>
      </a:accent6>
      <a:hlink>
        <a:srgbClr val="4F46E5"/>
      </a:hlink>
      <a:folHlink>
        <a:srgbClr val="6366F1"/>
      </a:folHlink>
    </a:clrScheme>
    <a:fontScheme name="FinRada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FinRadar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FinRadar — прогноз денежных потоков и кассовых разрывов</dc:title>
  <dc:subject>Хакатон «Центр-инвест», осень 2026</dc:subject>
  <dc:creator>Команда FinRadar</dc:creator>
  <cp:lastModifiedBy>Команда FinRadar</cp:lastModifiedBy>
  <cp:revision>1</cp:revision>
  <dcterms:created xsi:type="dcterms:W3CDTF">2026-10-25T07:45:57Z</dcterms:created>
  <dcterms:modified xsi:type="dcterms:W3CDTF">2026-10-25T07:45:57Z</dcterms:modified>
</cp:coreProperties>
</file>