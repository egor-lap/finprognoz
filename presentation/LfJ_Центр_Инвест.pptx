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ыступление: 5 минут" id="{7892FA3B-6BAB-B3A5-4E9C-2C79E704CBA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Приложение: для вопросов" id="{434E674C-8183-A442-7B18-A4172F88F463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295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[0:00–0:10] Мы — команда FinRadar. По банковской выписке прогнозируем остаток на 30 дней и заранее предупреждаем о кассовом разрыве: когда, сколько не хватит и что делать.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[0:10–0:30] Данные — все операции кейса: 222 420 операций 150 компаний за два года. 16 компаний уходили в минус, клиенты платят в среднем через 16 дней — отсюда риск разрывов.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[0:30–1:00] Как считаем. Читаем выписку, чистим повторы, раскладываем операции по статьям. Берём из истории 30-дневные отрезки, начинавшиеся в тот же день месяца, — обычно 72 — и накладываем на текущий остаток: это сценарии. По ним — P10, медиана, P90, а вероятность разрыва — доля сценариев с минусом. От 10% — повышенный риск, от 50% — критический; если компания год не уходила в минус — от 60 и 80%.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[1:00–1:20] По основным задачам кейса: категоризация, прогноз по дням, риск с датой, суммой и вероятностью и понятный интерфейс сделаны. Регулярные платежи находим по истории; счета и налоги из внешних систем — в плане.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[1:20–1:45] Контрольный датасет загружаем на сайте как есть: выписку одной компании, как C124.csv на экране, или файл сразу со всеми компаниями — тогда компанию выбираем в строке статуса. Из 150 компаний 17 критических и 13 с повышенным риском. На экране C124: вероятность разрыва 62,5 процента.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[1:45–2:05] Пошаговые логи строит команда evaluate: в отчёте у каждой компании 12 шагов с её числами — от чтения файла до статуса. Тот же текст — в calc_log.md, а каждая метрика с формулой — в backtest_log.md.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[2:05–2:45] Проверка — бэктест: на шести концах месяца строим прогноз только по прошлому и сравниваем с фактом 30 дней — 793 прогнозов. «Повышенный риск» поймал 8 из 10 разрывов, примерно за три недели. Цена — ложные тревоги: precision 0,10. Accuracy 0,90, но разрывов всего 1,3%, поэтому важнее recall и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[2:45–3:25] Остаток: MAE 1,17 млн ₽ против 1,23 млн ₽ у наивной модели, RMSE 3,25 млн ₽, WAPE 25%. Коридор честный: факт внутри P10–P90 в 77% случаев при ожидаемых 80. ROC-AUC 0,77 — риск упорядочен верно, но сама вероятность завышена, это следующий шаг. На всех шести датах среза картина одинаковая.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[3:25–3:50] Контрольный датасет проверяется одной командой: npm run evaluate. Прогноз по каждой компании, бэктест со всеми метриками, графики и HTML-отчёт без интернета — около десяти секунд на 150 компаний.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[3:50–4:15] Из задач со звёздочкой сделали сценарии «что если» с базой и сценарием на одном графике, ручной ввод, мгновенный пересчёт, граничные случаи, сравнение подходов, архитектуру и безопасность. Не успели внешние источники, план-факт, интеграции и автотесты.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[4:15–4:35] Итог: по одной выписке — прогноз на 30 дней, 8 из 10 разрывов заранее, каждое число объяснено журналом, контрольный датасет — одной командой. Спасибо,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Слайды приложения не входят в пять минут — открываем их при вопросах.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MAE в первый день 0,18 млн ₽, на 30-й — 1,62 млн ₽. Наивная модель: MAE 1,23 млн ₽, тренд — 1,36 млн 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MAE: наша модель 1,17 млн ₽, наивная 1,23 млн ₽, тренд 1,36 млн ₽. RMSE: 3,25 млн ₽, 3,38 млн ₽, 3,72 млн ₽. Модель точнее обеих базовых, но выигрыш у наивной небольшой: остаток на 30 дней почти не предсказуем точечно — поэтому мы показываем коридор P10–P90 и вероятность разрыва.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Найденные статусом «Повышенный риск» разрывы: 1, 5, 15, 18, 25, 28, 28, 30 дней от прогноза.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Ниже P10 — 8,4% точек, выше P90 — 14,7%. Коридор держится около 75–80% на всём горизонте.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25880"/>
            <a:ext cx="56692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514600"/>
            <a:ext cx="53949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FinRadar · Хакатон «Центр-инвест»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258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FinRadar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51460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</a:rPr>
              <a:t>Видим кассовый разрыв за недели до того, как он случится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5"/>
                </a:solidFill>
              </a:rPr>
              <a:t>ХАКАТОН «ЦЕНТР-ИНВЕСТ» · ОСЕНЬ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Прогноз остатка на 30 дней по банковской выписке: когда, сколько не хватит, с какой вероятностью — и пошаговый журнал каждого числа.</a:t>
            </a:r>
            <a:endParaRPr lang="en-US" sz="1600" dirty="0"/>
          </a:p>
        </p:txBody>
      </p:sp>
      <p:sp>
        <p:nvSpPr>
          <p:cNvPr id="7" name="frame-t_forecast.png"/>
          <p:cNvSpPr/>
          <p:nvPr/>
        </p:nvSpPr>
        <p:spPr>
          <a:xfrm>
            <a:off x="6291072" y="1033272"/>
            <a:ext cx="5385816" cy="2112494"/>
          </a:xfrm>
          <a:prstGeom prst="roundRect">
            <a:avLst>
              <a:gd name="adj" fmla="val 4329"/>
            </a:avLst>
          </a:prstGeom>
          <a:solidFill>
            <a:schemeClr val="tx1"/>
          </a:solidFill>
          <a:ln/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8" name="Image 0" descr="Прогноз остатка на октябрь 2026: медиана и коридор P10–P90, точка возможного разрыва 14.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97280"/>
            <a:ext cx="5257800" cy="1984478"/>
          </a:xfrm>
          <a:prstGeom prst="rect">
            <a:avLst/>
          </a:prstGeom>
        </p:spPr>
      </p:pic>
      <p:sp>
        <p:nvSpPr>
          <p:cNvPr id="9" name="frame-t_alert.png"/>
          <p:cNvSpPr/>
          <p:nvPr/>
        </p:nvSpPr>
        <p:spPr>
          <a:xfrm>
            <a:off x="5925312" y="3364992"/>
            <a:ext cx="5248656" cy="1338978"/>
          </a:xfrm>
          <a:prstGeom prst="roundRect">
            <a:avLst>
              <a:gd name="adj" fmla="val 6829"/>
            </a:avLst>
          </a:prstGeom>
          <a:solidFill>
            <a:schemeClr val="tx1"/>
          </a:solidFill>
          <a:ln/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10" name="Image 1" descr="Предупреждение о разрыве 14.10.2026: причина и план действий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429000"/>
            <a:ext cx="5120640" cy="12109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Данные: все операции кейса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all_operations.csv: 222 420 операций, 150 компаний с 01.10.2024 по 30.09.2026</a:t>
            </a:r>
            <a:endParaRPr lang="en-US" sz="1800" dirty="0"/>
          </a:p>
        </p:txBody>
      </p:sp>
      <p:sp>
        <p:nvSpPr>
          <p:cNvPr id="4" name="eda-frame"/>
          <p:cNvSpPr/>
          <p:nvPr/>
        </p:nvSpPr>
        <p:spPr>
          <a:xfrm>
            <a:off x="1048360" y="1536192"/>
            <a:ext cx="10094976" cy="3440954"/>
          </a:xfrm>
          <a:prstGeom prst="roundRect">
            <a:avLst>
              <a:gd name="adj" fmla="val 2657"/>
            </a:avLst>
          </a:prstGeom>
          <a:solidFill>
            <a:schemeClr val="tx1"/>
          </a:solidFill>
          <a:ln/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5" name="Image 0" descr="EDA: ключевые потоки, отсрочка оплат, компании с отрицательным остатко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8" y="1600200"/>
            <a:ext cx="9966960" cy="33129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41738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 из 150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90378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компаний хотя бы раз уходили в минус за два года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5141738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15,7 дня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5690378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средняя отсрочка оплаты счёта; позже недели — 52% счетов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27797" y="5141738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36 400 ₽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127797" y="5690378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медианная операция; крупнейшая — 78,7 млн 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Как строим прогноз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Без «чёрного ящика»: каждое число объясняется в журнале расчёта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sp>
        <p:nvSpPr>
          <p:cNvPr id="5" name="icon-bg-LuFileSpreadsheet"/>
          <p:cNvSpPr/>
          <p:nvPr/>
        </p:nvSpPr>
        <p:spPr>
          <a:xfrm>
            <a:off x="804672" y="1874520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LuFileSpreadsh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83" y="2031431"/>
            <a:ext cx="399410" cy="3994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18928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7889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Выписка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Читаем CSV с заголовком и без, много компаний в файле; чистим повторы и сверяем с остатком</a:t>
            </a:r>
            <a:endParaRPr lang="en-US" sz="2000" dirty="0"/>
          </a:p>
        </p:txBody>
      </p:sp>
      <p:sp>
        <p:nvSpPr>
          <p:cNvPr id="9" name="step-arrow-0"/>
          <p:cNvSpPr/>
          <p:nvPr/>
        </p:nvSpPr>
        <p:spPr>
          <a:xfrm>
            <a:off x="3153613" y="288036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0" name="Shape 7"/>
          <p:cNvSpPr/>
          <p:nvPr/>
        </p:nvSpPr>
        <p:spPr>
          <a:xfrm>
            <a:off x="3408578" y="164592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1" name="icon-bg-LuTags"/>
          <p:cNvSpPr/>
          <p:nvPr/>
        </p:nvSpPr>
        <p:spPr>
          <a:xfrm>
            <a:off x="3664610" y="1874520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LuTag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521" y="2031431"/>
            <a:ext cx="399410" cy="39941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00218" y="18928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64610" y="27889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Статьи и платежи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Выручка, поставщики, зарплата, налоги, аренда; типичный день регулярных платежей</a:t>
            </a:r>
            <a:endParaRPr lang="en-US" sz="2000" dirty="0"/>
          </a:p>
        </p:txBody>
      </p:sp>
      <p:sp>
        <p:nvSpPr>
          <p:cNvPr id="15" name="step-arrow-1"/>
          <p:cNvSpPr/>
          <p:nvPr/>
        </p:nvSpPr>
        <p:spPr>
          <a:xfrm>
            <a:off x="6013552" y="288036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6" name="Shape 12"/>
          <p:cNvSpPr/>
          <p:nvPr/>
        </p:nvSpPr>
        <p:spPr>
          <a:xfrm>
            <a:off x="6268517" y="164592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7" name="icon-bg-LuHistory"/>
          <p:cNvSpPr/>
          <p:nvPr/>
        </p:nvSpPr>
        <p:spPr>
          <a:xfrm>
            <a:off x="6524549" y="1874520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LuHistor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460" y="2031431"/>
            <a:ext cx="399410" cy="39941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960157" y="18928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24549" y="27889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Похожие месяцы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30-дневные отрезки истории, начинавшиеся в тот же день месяца: каждый — сценарий остатка</a:t>
            </a:r>
            <a:endParaRPr lang="en-US" sz="2000" dirty="0"/>
          </a:p>
        </p:txBody>
      </p:sp>
      <p:sp>
        <p:nvSpPr>
          <p:cNvPr id="21" name="step-arrow-2"/>
          <p:cNvSpPr/>
          <p:nvPr/>
        </p:nvSpPr>
        <p:spPr>
          <a:xfrm>
            <a:off x="8873490" y="2880360"/>
            <a:ext cx="164592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2" name="Shape 17"/>
          <p:cNvSpPr/>
          <p:nvPr/>
        </p:nvSpPr>
        <p:spPr>
          <a:xfrm>
            <a:off x="9128455" y="164592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3" name="icon-bg-LuChartSpline"/>
          <p:cNvSpPr/>
          <p:nvPr/>
        </p:nvSpPr>
        <p:spPr>
          <a:xfrm>
            <a:off x="9384487" y="1874520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LuChartSp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1398" y="2031431"/>
            <a:ext cx="399410" cy="39941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820095" y="18928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384487" y="27889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Прогноз и риск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P10 / P50 / P90 на каждый день; вероятность разрыва — доля сценариев с минусом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Статус компании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548640" y="5074920"/>
            <a:ext cx="357621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9" name="rule-mark-0"/>
          <p:cNvSpPr/>
          <p:nvPr/>
        </p:nvSpPr>
        <p:spPr>
          <a:xfrm>
            <a:off x="731520" y="5230368"/>
            <a:ext cx="146304" cy="731520"/>
          </a:xfrm>
          <a:prstGeom prst="roundRect">
            <a:avLst>
              <a:gd name="adj" fmla="val 31250"/>
            </a:avLst>
          </a:prstGeom>
          <a:solidFill>
            <a:schemeClr val="accent3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1005840" y="5193792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Критический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вероятность ≥ 50% или P50 ниже нуля; без минуса за год — ≥ 80%</a:t>
            </a:r>
            <a:endParaRPr lang="en-US" sz="1700" dirty="0"/>
          </a:p>
        </p:txBody>
      </p:sp>
      <p:sp>
        <p:nvSpPr>
          <p:cNvPr id="31" name="Shape 25"/>
          <p:cNvSpPr/>
          <p:nvPr/>
        </p:nvSpPr>
        <p:spPr>
          <a:xfrm>
            <a:off x="4307738" y="5074920"/>
            <a:ext cx="357621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32" name="rule-mark-1"/>
          <p:cNvSpPr/>
          <p:nvPr/>
        </p:nvSpPr>
        <p:spPr>
          <a:xfrm>
            <a:off x="4490618" y="5230368"/>
            <a:ext cx="146304" cy="731520"/>
          </a:xfrm>
          <a:prstGeom prst="roundRect">
            <a:avLst>
              <a:gd name="adj" fmla="val 31250"/>
            </a:avLst>
          </a:prstGeom>
          <a:solidFill>
            <a:schemeClr val="accent4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4764938" y="5193792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Повышенный риск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вероятность ≥ 10% или P10 ниже нуля; без минуса за год — ≥ 60%</a:t>
            </a:r>
            <a:endParaRPr lang="en-US" sz="1700" dirty="0"/>
          </a:p>
        </p:txBody>
      </p:sp>
      <p:sp>
        <p:nvSpPr>
          <p:cNvPr id="34" name="Shape 28"/>
          <p:cNvSpPr/>
          <p:nvPr/>
        </p:nvSpPr>
        <p:spPr>
          <a:xfrm>
            <a:off x="8066837" y="5074920"/>
            <a:ext cx="357621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35" name="rule-mark-2"/>
          <p:cNvSpPr/>
          <p:nvPr/>
        </p:nvSpPr>
        <p:spPr>
          <a:xfrm>
            <a:off x="8249717" y="5230368"/>
            <a:ext cx="146304" cy="731520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524037" y="5193792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Стабильно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во всех остальных случаях</a:t>
            </a:r>
            <a:endParaRPr lang="en-US" sz="17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Как мы закрываем основные задачи кейса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Все пять основных задач работают в прототипе; счета и налоги из внешних систем — в плане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19709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1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Задача кейса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Что сделано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Статус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Разбор и категоризация операций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 статей по назначению платежа: выручка, эквайринг, поставщики, зарплата, налоги и ЕНП, аренда, кредиты, комиссии; выводы владельца выделяются отдельно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Сделано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Регулярные платежи, счета и налоги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Зарплата, налоги и аренда: типичный день, сумма в месяц и получатель за 6 месяцев. Счета и налоги из внешних систем — в плане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Частично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Прогноз остатка по дням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 дней вперёд: на каждый день медиана P50 и коридор P10–P90 по похожим периодам истории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Сделано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Риск разрыва: дата, сумма, вероятность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Первый день риска, нехватка в пессимистичном сценарии, вероятность — доля сценариев с минусом; на истории найдено 8 из 10 разрывов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Сделано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Понятный интерфейс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Три вкладки, статус-светофор, предупреждения с причиной и планом действий простым языком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Сделано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Загружаем контрольный датасет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Пример — выписка C124.csv из датасета кейса; файл сразу со всеми 150 компаниями загружается так же</a:t>
            </a:r>
            <a:endParaRPr lang="en-US" sz="1800" dirty="0"/>
          </a:p>
        </p:txBody>
      </p:sp>
      <p:sp>
        <p:nvSpPr>
          <p:cNvPr id="4" name="frame-ui_8_control_dataset.png"/>
          <p:cNvSpPr/>
          <p:nvPr/>
        </p:nvSpPr>
        <p:spPr>
          <a:xfrm>
            <a:off x="484632" y="1581912"/>
            <a:ext cx="7351776" cy="4642866"/>
          </a:xfrm>
          <a:prstGeom prst="roundRect">
            <a:avLst>
              <a:gd name="adj" fmla="val 1969"/>
            </a:avLst>
          </a:prstGeom>
          <a:solidFill>
            <a:schemeClr val="tx1"/>
          </a:solidFill>
          <a:ln/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5" name="Image 0" descr="Сайт после загрузки C124.csv: критический статус, прогнозный коридо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7223760" cy="4514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1600200"/>
            <a:ext cx="34134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150</a:t>
            </a:r>
            <a:endParaRPr lang="en-US" sz="44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компаний в общем файле — прогноз по каждой; компания выбирается в строке статуса</a:t>
            </a:r>
            <a:endParaRPr lang="en-US" sz="4400" dirty="0"/>
          </a:p>
        </p:txBody>
      </p:sp>
      <p:sp>
        <p:nvSpPr>
          <p:cNvPr id="7" name="count-chip-0"/>
          <p:cNvSpPr/>
          <p:nvPr/>
        </p:nvSpPr>
        <p:spPr>
          <a:xfrm>
            <a:off x="8229600" y="3072384"/>
            <a:ext cx="86868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0" y="307238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17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281160" y="3017520"/>
            <a:ext cx="2361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критический статус</a:t>
            </a:r>
            <a:endParaRPr lang="en-US" sz="1600" dirty="0"/>
          </a:p>
        </p:txBody>
      </p:sp>
      <p:sp>
        <p:nvSpPr>
          <p:cNvPr id="10" name="count-chip-1"/>
          <p:cNvSpPr/>
          <p:nvPr/>
        </p:nvSpPr>
        <p:spPr>
          <a:xfrm>
            <a:off x="8229600" y="3639312"/>
            <a:ext cx="868680" cy="42062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0" y="363931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281160" y="3584448"/>
            <a:ext cx="2361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повышенный риск</a:t>
            </a:r>
            <a:endParaRPr lang="en-US" sz="1600" dirty="0"/>
          </a:p>
        </p:txBody>
      </p:sp>
      <p:sp>
        <p:nvSpPr>
          <p:cNvPr id="13" name="count-chip-2"/>
          <p:cNvSpPr/>
          <p:nvPr/>
        </p:nvSpPr>
        <p:spPr>
          <a:xfrm>
            <a:off x="8229600" y="4206240"/>
            <a:ext cx="86868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0" y="420624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120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4151376"/>
            <a:ext cx="2361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стабильно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0" y="4846320"/>
            <a:ext cx="3413455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0" y="4937760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C124 на экране: вероятность 62,5%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45 из 72 сценариев уходят в минус; худший P10 −4,1 млн ₽ к 30.10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Пошаговый журнал расчёта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Строит команда npm run evaluate: для каждой компании файла и для каждой метрики</a:t>
            </a:r>
            <a:endParaRPr lang="en-US" sz="1800" dirty="0"/>
          </a:p>
        </p:txBody>
      </p:sp>
      <p:sp>
        <p:nvSpPr>
          <p:cNvPr id="4" name="frame-report_3_company.png"/>
          <p:cNvSpPr/>
          <p:nvPr/>
        </p:nvSpPr>
        <p:spPr>
          <a:xfrm>
            <a:off x="484632" y="1581912"/>
            <a:ext cx="7351776" cy="4642866"/>
          </a:xfrm>
          <a:prstGeom prst="roundRect">
            <a:avLst>
              <a:gd name="adj" fmla="val 1969"/>
            </a:avLst>
          </a:prstGeom>
          <a:solidFill>
            <a:schemeClr val="tx1"/>
          </a:solidFill>
          <a:ln/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5" name="Image 0" descr="HTML-отчёт: карточка компании C124 с графиком, журналом расчёта и прогнозом по дня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7223760" cy="4514850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8229600" y="16916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1673352"/>
            <a:ext cx="28190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report.html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Карточка каждой компании: график, 12 шагов расчёта с её числами — от чтения файла до статуса — и прогноз по дням</a:t>
            </a:r>
            <a:endParaRPr lang="en-US" sz="1800" dirty="0"/>
          </a:p>
        </p:txBody>
      </p:sp>
      <p:sp>
        <p:nvSpPr>
          <p:cNvPr id="9" name="badge-2"/>
          <p:cNvSpPr/>
          <p:nvPr/>
        </p:nvSpPr>
        <p:spPr>
          <a:xfrm>
            <a:off x="8229600" y="31729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823960" y="3154680"/>
            <a:ext cx="28190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calc_log.md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Тот же журнал текстом для всех компаний файла</a:t>
            </a:r>
            <a:endParaRPr lang="en-US" sz="1800" dirty="0"/>
          </a:p>
        </p:txBody>
      </p:sp>
      <p:sp>
        <p:nvSpPr>
          <p:cNvPr id="12" name="badge-3"/>
          <p:cNvSpPr/>
          <p:nvPr/>
        </p:nvSpPr>
        <p:spPr>
          <a:xfrm>
            <a:off x="8229600" y="465429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4636008"/>
            <a:ext cx="28190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backtest_log.md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Каждая метрика — формула с подставленными числами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Бэктест: матрица ошибок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793 прогнозов «из прошлого» на 6 датах, 137 компаний; разрыв — остаток ниже 0 ₽ в ближайшие 30 дней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93776" y="1572768"/>
            <a:ext cx="7287768" cy="4155532"/>
          </a:xfrm>
          <a:prstGeom prst="roundRect">
            <a:avLst>
              <a:gd name="adj" fmla="val 176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5" name="Image 0" descr="Матрицы ошибок статусов «Повышенный риск» и «Критический» против факт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7632"/>
            <a:ext cx="7178040" cy="40458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83880" y="164592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 из 10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231136"/>
            <a:ext cx="3459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новых разрывов поймал статус «Повышенный риск»: recall 0,80, balanced accuracy 0,85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315468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0,10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3739896"/>
            <a:ext cx="3459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precision: ≈9 ложных тревог на один верный сигнал (у угадывания 0,013); F1 0,17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466344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0,90 / 0,95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5248656"/>
            <a:ext cx="3459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accuracy при 10% / 50%: разрывов всего 1,3%, «всегда стабильно» дало бы 0,99 и ноль находок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Точность остатка и вероятности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Бэктест на всех 150 компаниях: картина одинаковая на всех шести датах среза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709928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1,17 млн ₽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240280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MAE · наивная модель 1,23 млн ₽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7964" y="1600200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32556" y="1709928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1,06·10¹³ ₽²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32556" y="2240280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MSE · RMSE 3,25 млн 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7288" y="1600200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1880" y="1709928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25,3%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51880" y="2240280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WAPE: ошибка от величины остатка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611" y="1600200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71203" y="1709928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76,9%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171203" y="2240280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факт внутри коридора P10–P90 (ожидание 80%)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98648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3008376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0,77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538728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ROC-AUC: риск упорядочен верно (0,5 — угадывание)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67964" y="2898648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32556" y="3008376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21,5 дня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532556" y="3538728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медианный запас времени до разрыва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87288" y="2898648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1880" y="3008376"/>
            <a:ext cx="230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0,093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351880" y="3538728"/>
            <a:ext cx="23072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Brier · у константы 0,013: вероятность завышена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06611" y="2898648"/>
            <a:ext cx="2636444" cy="1161288"/>
          </a:xfrm>
          <a:prstGeom prst="roundRect">
            <a:avLst>
              <a:gd name="adj" fmla="val 7874"/>
            </a:avLst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71203" y="3008376"/>
            <a:ext cx="23072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793 прогнозов × 30 дней = 23 790 точек сравнения остатка</a:t>
            </a:r>
            <a:endParaRPr lang="en-US" sz="13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91672" cy="156819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Дата среза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Прогнозов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Уже в минусе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Новых разрывов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Сигналов «Повышенный риск»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Из них разрыв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MAE P50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31.03.2026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129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1,01 млн ₽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30.04.2026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0,92 млн ₽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31.05.2026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1,04 млн ₽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30.06.2026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1,39 млн ₽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31.07.2026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135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1,44 млн ₽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31.08.2026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137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1,19 млн ₽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548640" y="60167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«Повышенный риск»: вероятность ≥ 10%, у компаний без минуса за год — ≥ 60%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Контрольный датасет — одной командой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Прогноз, журналы, метрики, матрицы ошибок и графики — несколько секунд на файл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evaluate -- control.csv --open</a:t>
            </a:r>
            <a:endParaRPr lang="en-US" sz="1600" dirty="0"/>
          </a:p>
        </p:txBody>
      </p:sp>
      <p:sp>
        <p:nvSpPr>
          <p:cNvPr id="6" name="icon-bg-LuUsers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LuUs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29553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7889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Шаг 1/4 · Прогноз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2"/>
                </a:solidFill>
              </a:rPr>
              <a:t>каждой компании — как на сайте, с журналом расчёта</a:t>
            </a:r>
            <a:endParaRPr lang="en-US" sz="1600" dirty="0"/>
          </a:p>
        </p:txBody>
      </p:sp>
      <p:sp>
        <p:nvSpPr>
          <p:cNvPr id="9" name="icon-bg-LuHistory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LuHist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38240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3657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Шаг 2/4 · Бэктест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2"/>
                </a:solidFill>
              </a:rPr>
              <a:t>Accuracy, Precision, Recall, F1, MAE, MSE, RMSE, ROC-AUC, Brier</a:t>
            </a:r>
            <a:endParaRPr lang="en-US" sz="1600" dirty="0"/>
          </a:p>
        </p:txBody>
      </p:sp>
      <p:sp>
        <p:nvSpPr>
          <p:cNvPr id="12" name="icon-bg-LuChartColumn"/>
          <p:cNvSpPr/>
          <p:nvPr/>
        </p:nvSpPr>
        <p:spPr>
          <a:xfrm>
            <a:off x="548640" y="4572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LuChartColum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46927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45262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Шаг 3/4 · Графики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2"/>
                </a:solidFill>
              </a:rPr>
              <a:t>матрицы ошибок, ROC, калибровка, ошибки по горизонту</a:t>
            </a:r>
            <a:endParaRPr lang="en-US" sz="1600" dirty="0"/>
          </a:p>
        </p:txBody>
      </p:sp>
      <p:sp>
        <p:nvSpPr>
          <p:cNvPr id="15" name="icon-bg-LuFileText"/>
          <p:cNvSpPr/>
          <p:nvPr/>
        </p:nvSpPr>
        <p:spPr>
          <a:xfrm>
            <a:off x="548640" y="5440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3" descr="LuFileTex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1" y="556138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5394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Шаг 4/4 · Отчёт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2"/>
                </a:solidFill>
              </a:rPr>
              <a:t>report.html открывается без интернета</a:t>
            </a:r>
            <a:endParaRPr lang="en-US" sz="1600" dirty="0"/>
          </a:p>
        </p:txBody>
      </p:sp>
      <p:sp>
        <p:nvSpPr>
          <p:cNvPr id="18" name="frame-report_1_summary.png"/>
          <p:cNvSpPr/>
          <p:nvPr/>
        </p:nvSpPr>
        <p:spPr>
          <a:xfrm>
            <a:off x="6108192" y="1581912"/>
            <a:ext cx="5568696" cy="3528441"/>
          </a:xfrm>
          <a:prstGeom prst="roundRect">
            <a:avLst>
              <a:gd name="adj" fmla="val 2592"/>
            </a:avLst>
          </a:prstGeom>
          <a:solidFill>
            <a:schemeClr val="tx1"/>
          </a:solidFill>
          <a:ln/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19" name="Image 4" descr="HTML-отчёт npm run evaluate: итог по компаниям и метрики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645920"/>
            <a:ext cx="5440680" cy="340042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172200" y="5210937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Отчёт по all_operations.csv: 150 компаний, около 10 секунд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Задачи со звёздочкой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Сделали то, что сильнее всего помогает предпринимателю: сценарии, ручной ввод и надёжность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4652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Сделано</a:t>
            </a:r>
            <a:endParaRPr lang="en-US" sz="2000" dirty="0"/>
          </a:p>
        </p:txBody>
      </p:sp>
      <p:pic>
        <p:nvPicPr>
          <p:cNvPr id="6" name="Image 0" descr="сделан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331720"/>
            <a:ext cx="5532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«Что если»: задержка клиента, спад выручки, внеплановый расход, отсрочка поставщикам — база и сценарий на одном графике</a:t>
            </a:r>
            <a:endParaRPr lang="en-US" sz="1500" dirty="0"/>
          </a:p>
        </p:txBody>
      </p:sp>
      <p:pic>
        <p:nvPicPr>
          <p:cNvPr id="8" name="Image 1" descr="сделан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9067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306324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Ручной ввод плановых операций — сразу в прогнозе</a:t>
            </a:r>
            <a:endParaRPr lang="en-US" sz="1500" dirty="0"/>
          </a:p>
        </p:txBody>
      </p:sp>
      <p:pic>
        <p:nvPicPr>
          <p:cNvPr id="10" name="Image 2" descr="сделан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4787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52044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Пересчёт без полного перерасчёта: сценарии и операции ~1 мс</a:t>
            </a:r>
            <a:endParaRPr lang="en-US" sz="1500" dirty="0"/>
          </a:p>
        </p:txBody>
      </p:sp>
      <p:pic>
        <p:nvPicPr>
          <p:cNvPr id="12" name="Image 3" descr="сделан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05072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3977640"/>
            <a:ext cx="5532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Граничные случаи: короткая история, битые строки, повторы, нет остатка</a:t>
            </a:r>
            <a:endParaRPr lang="en-US" sz="1500" dirty="0"/>
          </a:p>
        </p:txBody>
      </p:sp>
      <p:pic>
        <p:nvPicPr>
          <p:cNvPr id="14" name="Image 4" descr="сделан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36592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34440" y="470916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Сравнение подходов: бэктест против двух базовых моделей</a:t>
            </a:r>
            <a:endParaRPr lang="en-US" sz="1500" dirty="0"/>
          </a:p>
        </p:txBody>
      </p:sp>
      <p:pic>
        <p:nvPicPr>
          <p:cNvPr id="16" name="Image 5" descr="сделан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93792"/>
            <a:ext cx="274320" cy="27432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34440" y="516636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Схема архитектуры; аутентификация и логи без данных</a:t>
            </a:r>
            <a:endParaRPr lang="en-US" sz="1500" dirty="0"/>
          </a:p>
        </p:txBody>
      </p:sp>
      <p:sp>
        <p:nvSpPr>
          <p:cNvPr id="18" name="Shape 10"/>
          <p:cNvSpPr/>
          <p:nvPr/>
        </p:nvSpPr>
        <p:spPr>
          <a:xfrm>
            <a:off x="7223760" y="1645920"/>
            <a:ext cx="4419295" cy="4572000"/>
          </a:xfrm>
          <a:prstGeom prst="roundRect">
            <a:avLst>
              <a:gd name="adj" fmla="val 2483"/>
            </a:avLst>
          </a:prstGeom>
          <a:solidFill>
            <a:schemeClr val="bg2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498080" y="1783080"/>
            <a:ext cx="3870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Не успели</a:t>
            </a:r>
            <a:endParaRPr lang="en-US" sz="2000" dirty="0"/>
          </a:p>
        </p:txBody>
      </p:sp>
      <p:pic>
        <p:nvPicPr>
          <p:cNvPr id="20" name="Image 6" descr="в план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359152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909560" y="2331720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Договоры, счета, налоговый календарь</a:t>
            </a:r>
            <a:endParaRPr lang="en-US" sz="1500" dirty="0"/>
          </a:p>
        </p:txBody>
      </p:sp>
      <p:pic>
        <p:nvPicPr>
          <p:cNvPr id="22" name="Image 7" descr="в план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92608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909560" y="2898648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План-факт и автообновление прогноза</a:t>
            </a:r>
            <a:endParaRPr lang="en-US" sz="1500" dirty="0"/>
          </a:p>
        </p:txBody>
      </p:sp>
      <p:pic>
        <p:nvPicPr>
          <p:cNvPr id="24" name="Image 8" descr="в план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493008"/>
            <a:ext cx="274320" cy="27432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7909560" y="3465576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Сценарий «рост постоянных расходов»</a:t>
            </a:r>
            <a:endParaRPr lang="en-US" sz="1500" dirty="0"/>
          </a:p>
        </p:txBody>
      </p:sp>
      <p:pic>
        <p:nvPicPr>
          <p:cNvPr id="26" name="Image 9" descr="в план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059936"/>
            <a:ext cx="274320" cy="27432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909560" y="4032504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Интеграции: банк, 1С, онлайн-кассы</a:t>
            </a:r>
            <a:endParaRPr lang="en-US" sz="1500" dirty="0"/>
          </a:p>
        </p:txBody>
      </p:sp>
      <p:pic>
        <p:nvPicPr>
          <p:cNvPr id="28" name="Image 10" descr="в план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626864"/>
            <a:ext cx="274320" cy="27432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7909560" y="4599432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Автотесты</a:t>
            </a:r>
            <a:endParaRPr lang="en-US" sz="1500" dirty="0"/>
          </a:p>
        </p:txBody>
      </p:sp>
      <p:sp>
        <p:nvSpPr>
          <p:cNvPr id="30" name="Text 17"/>
          <p:cNvSpPr txBox="1"/>
          <p:nvPr/>
        </p:nvSpPr>
        <p:spPr>
          <a:xfrm>
            <a:off x="7498080" y="5440680"/>
            <a:ext cx="3870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Это следующие шаги развития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FinRadar предупреждает заранее и объясняет каждое число</a:t>
            </a:r>
            <a:endParaRPr lang="en-US" sz="3800" dirty="0"/>
          </a:p>
        </p:txBody>
      </p:sp>
      <p:sp>
        <p:nvSpPr>
          <p:cNvPr id="3" name="closing-stat-0"/>
          <p:cNvSpPr/>
          <p:nvPr/>
        </p:nvSpPr>
        <p:spPr>
          <a:xfrm>
            <a:off x="548640" y="1783080"/>
            <a:ext cx="2567864" cy="1691640"/>
          </a:xfrm>
          <a:prstGeom prst="roundRect">
            <a:avLst>
              <a:gd name="adj" fmla="val 7568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92024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 из 10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70048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новых разрывов найдено заранее</a:t>
            </a:r>
            <a:endParaRPr lang="en-US" sz="1500" dirty="0"/>
          </a:p>
        </p:txBody>
      </p:sp>
      <p:sp>
        <p:nvSpPr>
          <p:cNvPr id="6" name="closing-stat-1"/>
          <p:cNvSpPr/>
          <p:nvPr/>
        </p:nvSpPr>
        <p:spPr>
          <a:xfrm>
            <a:off x="3390824" y="1783080"/>
            <a:ext cx="2567864" cy="1691640"/>
          </a:xfrm>
          <a:prstGeom prst="roundRect">
            <a:avLst>
              <a:gd name="adj" fmla="val 7568"/>
            </a:avLst>
          </a:prstGeom>
          <a:solidFill>
            <a:schemeClr val="accent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19424" y="192024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21,5 дня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619424" y="2670048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медианный запас времени до разрыва</a:t>
            </a:r>
            <a:endParaRPr lang="en-US" sz="1500" dirty="0"/>
          </a:p>
        </p:txBody>
      </p:sp>
      <p:sp>
        <p:nvSpPr>
          <p:cNvPr id="9" name="closing-stat-2"/>
          <p:cNvSpPr/>
          <p:nvPr/>
        </p:nvSpPr>
        <p:spPr>
          <a:xfrm>
            <a:off x="6233008" y="1783080"/>
            <a:ext cx="2567864" cy="1691640"/>
          </a:xfrm>
          <a:prstGeom prst="roundRect">
            <a:avLst>
              <a:gd name="adj" fmla="val 7568"/>
            </a:avLst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1608" y="192024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670048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компаний: прогноз и журнал из одного файла за ~10 секунд</a:t>
            </a:r>
            <a:endParaRPr lang="en-US" sz="1500" dirty="0"/>
          </a:p>
        </p:txBody>
      </p:sp>
      <p:sp>
        <p:nvSpPr>
          <p:cNvPr id="12" name="closing-stat-3"/>
          <p:cNvSpPr/>
          <p:nvPr/>
        </p:nvSpPr>
        <p:spPr>
          <a:xfrm>
            <a:off x="9075191" y="1783080"/>
            <a:ext cx="2567864" cy="1691640"/>
          </a:xfrm>
          <a:prstGeom prst="roundRect">
            <a:avLst>
              <a:gd name="adj" fmla="val 7568"/>
            </a:avLst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03791" y="192024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0,77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303791" y="2670048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ROC-AUC на 761 прогнозах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Следующий шаг: </a:t>
            </a:r>
            <a:r>
              <a:rPr lang="en-US" sz="1800" dirty="0">
                <a:solidFill>
                  <a:schemeClr val="accent5"/>
                </a:solidFill>
              </a:rPr>
              <a:t>калибровка вероятности; счета, договоры и налоговый календарь в прогнозе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Спасибо! Готовы ответить на вопросы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Приложение: для вопросов жюри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Графики метрик (npm run evaluate, presentation_assets/metrics); каждое число с формулой — в reports/backtest_log.md</a:t>
            </a:r>
            <a:endParaRPr lang="en-US" sz="1800" dirty="0"/>
          </a:p>
        </p:txBody>
      </p:sp>
      <p:sp>
        <p:nvSpPr>
          <p:cNvPr id="4" name="appendix-n-0"/>
          <p:cNvSpPr/>
          <p:nvPr/>
        </p:nvSpPr>
        <p:spPr>
          <a:xfrm>
            <a:off x="548640" y="246888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468880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MAE и RMSE по горизонту прогноза</a:t>
            </a:r>
            <a:endParaRPr lang="en-US" sz="2000" dirty="0"/>
          </a:p>
        </p:txBody>
      </p:sp>
      <p:sp>
        <p:nvSpPr>
          <p:cNvPr id="7" name="appendix-n-1"/>
          <p:cNvSpPr/>
          <p:nvPr/>
        </p:nvSpPr>
        <p:spPr>
          <a:xfrm>
            <a:off x="548640" y="320040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200400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MAE и RMSE: сравнение подходов</a:t>
            </a:r>
            <a:endParaRPr lang="en-US" sz="2000" dirty="0"/>
          </a:p>
        </p:txBody>
      </p:sp>
      <p:sp>
        <p:nvSpPr>
          <p:cNvPr id="10" name="appendix-n-2"/>
          <p:cNvSpPr/>
          <p:nvPr/>
        </p:nvSpPr>
        <p:spPr>
          <a:xfrm>
            <a:off x="548640" y="393192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931920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Заблаговременность предупреждения</a:t>
            </a:r>
            <a:endParaRPr lang="en-US" sz="2000" dirty="0"/>
          </a:p>
        </p:txBody>
      </p:sp>
      <p:sp>
        <p:nvSpPr>
          <p:cNvPr id="13" name="appendix-n-3"/>
          <p:cNvSpPr/>
          <p:nvPr/>
        </p:nvSpPr>
        <p:spPr>
          <a:xfrm>
            <a:off x="548640" y="466344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63440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Коридор P10–P90: попадание факта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MAE и RMSE по горизонту прогноза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Ошибка растёт с горизонтом; в среднем MAE 1,17 млн ₽, RMSE 3,25 млн ₽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93776" y="1865376"/>
            <a:ext cx="5519776" cy="3159028"/>
          </a:xfrm>
          <a:prstGeom prst="roundRect">
            <a:avLst>
              <a:gd name="adj" fmla="val 231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5" name="Image 0" descr="MAE по дням горизонта для трёх подходов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5410048" cy="3049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8144" y="1865376"/>
            <a:ext cx="5519776" cy="3159028"/>
          </a:xfrm>
          <a:prstGeom prst="roundRect">
            <a:avLst>
              <a:gd name="adj" fmla="val 231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7" name="Image 1" descr="RMSE по дням горизонта для трёх подходов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1920240"/>
            <a:ext cx="5410048" cy="30493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MAE и RMSE: сравнение подходов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Средняя ошибка прогноза остатка за дни 1–30 — меньше лучше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7333488" cy="4181302"/>
          </a:xfrm>
          <a:prstGeom prst="roundRect">
            <a:avLst>
              <a:gd name="adj" fmla="val 175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5" name="Image 0" descr="MAE и RMSE прогноза остатка для аналоговых периодов, наивной модели и линейного тренд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223760" cy="40715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92440" y="1600200"/>
            <a:ext cx="3550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Что на графике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Ошибка прогноза остатка по 23 790 точкам: 793 прогнозов × 30 дней. MAE — средняя ошибка в рублях, RMSE сильнее штрафует крупные промахи.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761488"/>
            <a:ext cx="3550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Наша модель точнее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MAE 1,17 млн ₽ — на 5% ниже наивной и на 14% ниже тренда; RMSE 3,25 млн ₽ — на 4% и 13%.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922776"/>
            <a:ext cx="3550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Почему RMSE втрое больше MAE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Ошибка в рублях растёт с размером компании, а RMSE возводит её в квадрат: основную долю дают несколько крупнейших компаний с остатками в десятки миллионов.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5084064"/>
            <a:ext cx="3550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Почему наивная близко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За 30 дней остаток меняется слабо и неравномерно; выигрыш даёт возврат медианы к обычному уровню остатка.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Заблаговременность предупреждения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Найденные разрывы видны в среднем за 21,5 дня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6184" y="1545336"/>
            <a:ext cx="8339328" cy="4748230"/>
          </a:xfrm>
          <a:prstGeom prst="roundRect">
            <a:avLst>
              <a:gd name="adj" fmla="val 154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5" name="Image 0" descr="Дни от прогноза до первого дня с минусом для найденных и пропущенных разрывов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048" y="1600200"/>
            <a:ext cx="8229600" cy="46385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Коридор P10–P90: попадание факта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784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Факт внутри коридора в 76,9% точек при ожидаемых 80%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6184" y="1545336"/>
            <a:ext cx="8339328" cy="4748230"/>
          </a:xfrm>
          <a:prstGeom prst="roundRect">
            <a:avLst>
              <a:gd name="adj" fmla="val 154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38100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5" name="Image 0" descr="Доля фактов внутри коридора P10–P90 по дням горизонт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048" y="1600200"/>
            <a:ext cx="8229600" cy="46385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Radar">
  <a:themeElements>
    <a:clrScheme name="FinRadar">
      <a:dk1>
        <a:srgbClr val="0F172A"/>
      </a:dk1>
      <a:lt1>
        <a:srgbClr val="FFFFFF"/>
      </a:lt1>
      <a:dk2>
        <a:srgbClr val="475569"/>
      </a:dk2>
      <a:lt2>
        <a:srgbClr val="EEF2FF"/>
      </a:lt2>
      <a:accent1>
        <a:srgbClr val="4F46E5"/>
      </a:accent1>
      <a:accent2>
        <a:srgbClr val="059669"/>
      </a:accent2>
      <a:accent3>
        <a:srgbClr val="E11D48"/>
      </a:accent3>
      <a:accent4>
        <a:srgbClr val="D97706"/>
      </a:accent4>
      <a:accent5>
        <a:srgbClr val="A5B4FC"/>
      </a:accent5>
      <a:accent6>
        <a:srgbClr val="1E293B"/>
      </a:accent6>
      <a:hlink>
        <a:srgbClr val="4F46E5"/>
      </a:hlink>
      <a:folHlink>
        <a:srgbClr val="6366F1"/>
      </a:folHlink>
    </a:clrScheme>
    <a:fontScheme name="FinRada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2062</Words>
  <Application>Microsoft Office PowerPoint</Application>
  <PresentationFormat>Широкоэкранный</PresentationFormat>
  <Paragraphs>261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FinRadar</vt:lpstr>
      <vt:lpstr>FinRadar</vt:lpstr>
      <vt:lpstr>Данные: все операции кейса</vt:lpstr>
      <vt:lpstr>Как строим прогноз</vt:lpstr>
      <vt:lpstr>Как мы закрываем основные задачи кейса</vt:lpstr>
      <vt:lpstr>Загружаем контрольный датасет</vt:lpstr>
      <vt:lpstr>Пошаговый журнал расчёта</vt:lpstr>
      <vt:lpstr>Бэктест: матрица ошибок</vt:lpstr>
      <vt:lpstr>Точность остатка и вероятности</vt:lpstr>
      <vt:lpstr>Контрольный датасет — одной командой</vt:lpstr>
      <vt:lpstr>Задачи со звёздочкой</vt:lpstr>
      <vt:lpstr>FinRadar предупреждает заранее и объясняет каждое число</vt:lpstr>
      <vt:lpstr>Приложение: для вопросов жюри</vt:lpstr>
      <vt:lpstr>MAE и RMSE по горизонту прогноза</vt:lpstr>
      <vt:lpstr>MAE и RMSE: сравнение подходов</vt:lpstr>
      <vt:lpstr>Заблаговременность предупреждения</vt:lpstr>
      <vt:lpstr>Коридор P10–P90: попадание факта</vt:lpstr>
    </vt:vector>
  </TitlesOfParts>
  <Company>FinRadar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FinRadar — прогноз денежных потоков и кассовых разрывов</dc:title>
  <dc:subject>Хакатон «Центр-инвест», осень 2026</dc:subject>
  <dc:creator>Команда FinRadar</dc:creator>
  <cp:lastModifiedBy>Егор Лаптуров</cp:lastModifiedBy>
  <cp:revision>2</cp:revision>
  <dcterms:created xsi:type="dcterms:W3CDTF">2026-10-25T08:52:12Z</dcterms:created>
  <dcterms:modified xsi:type="dcterms:W3CDTF">2026-10-25T08:59:45Z</dcterms:modified>
</cp:coreProperties>
</file>